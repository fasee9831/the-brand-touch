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notesMasterIdLst>
    <p:notesMasterId r:id="rId26"/>
  </p:notesMasterIdLst>
  <p:sldIdLst>
    <p:sldId id="256" r:id="rId2"/>
    <p:sldId id="257" r:id="rId3"/>
    <p:sldId id="259" r:id="rId4"/>
    <p:sldId id="260" r:id="rId5"/>
    <p:sldId id="266" r:id="rId6"/>
    <p:sldId id="269" r:id="rId7"/>
    <p:sldId id="296" r:id="rId8"/>
    <p:sldId id="297" r:id="rId9"/>
    <p:sldId id="298" r:id="rId10"/>
    <p:sldId id="299" r:id="rId11"/>
    <p:sldId id="267" r:id="rId12"/>
    <p:sldId id="294" r:id="rId13"/>
    <p:sldId id="295" r:id="rId14"/>
    <p:sldId id="304" r:id="rId15"/>
    <p:sldId id="305" r:id="rId16"/>
    <p:sldId id="306" r:id="rId17"/>
    <p:sldId id="307" r:id="rId18"/>
    <p:sldId id="308" r:id="rId19"/>
    <p:sldId id="312" r:id="rId20"/>
    <p:sldId id="309" r:id="rId21"/>
    <p:sldId id="310" r:id="rId22"/>
    <p:sldId id="311" r:id="rId23"/>
    <p:sldId id="300" r:id="rId24"/>
    <p:sldId id="30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3" autoAdjust="0"/>
    <p:restoredTop sz="94660"/>
  </p:normalViewPr>
  <p:slideViewPr>
    <p:cSldViewPr snapToGrid="0">
      <p:cViewPr>
        <p:scale>
          <a:sx n="66" d="100"/>
          <a:sy n="66" d="100"/>
        </p:scale>
        <p:origin x="1238" y="41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notesMaster" Target="notesMasters/notesMaster1.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presProps" Target="presProps.xml" /><Relationship Id="rId30"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3EA059-D2B0-4061-9D04-4B5772A2D292}"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C662FB-4F4B-4207-A8D5-8033F61EA440}" type="slidenum">
              <a:rPr lang="en-IN" smtClean="0"/>
              <a:t>‹#›</a:t>
            </a:fld>
            <a:endParaRPr lang="en-IN"/>
          </a:p>
        </p:txBody>
      </p:sp>
    </p:spTree>
    <p:extLst>
      <p:ext uri="{BB962C8B-B14F-4D97-AF65-F5344CB8AC3E}">
        <p14:creationId xmlns:p14="http://schemas.microsoft.com/office/powerpoint/2010/main" val="2804106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EC662FB-4F4B-4207-A8D5-8033F61EA440}" type="slidenum">
              <a:rPr lang="en-IN" smtClean="0"/>
              <a:t>1</a:t>
            </a:fld>
            <a:endParaRPr lang="en-IN"/>
          </a:p>
        </p:txBody>
      </p:sp>
    </p:spTree>
    <p:extLst>
      <p:ext uri="{BB962C8B-B14F-4D97-AF65-F5344CB8AC3E}">
        <p14:creationId xmlns:p14="http://schemas.microsoft.com/office/powerpoint/2010/main" val="360649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A820A29-C223-4061-85C9-076A959B69A1}" type="datetime1">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2780863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FF103D-4F58-4900-98D6-992D4E37E62B}" type="datetime1">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3190308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E947DE-883C-4F39-85D4-2987E772A60D}" type="datetime1">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810910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4F3465-09C6-4E8D-BFEA-7FBF787A9149}" type="datetime1">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3827998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6F1C83-D1B8-4754-B738-ECC0A9D1015B}" type="datetime1">
              <a:rPr lang="en-IN" smtClean="0"/>
              <a:t>13-04-2026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1450780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FA2A67-AD99-4082-A70E-48B7372C1F26}" type="datetime1">
              <a:rPr lang="en-IN" smtClean="0"/>
              <a:t>13-04-2026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3784921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D86C7F-9A9E-4F6B-A3DB-A546A0D490E0}" type="datetime1">
              <a:rPr lang="en-IN" smtClean="0"/>
              <a:t>13-04-2026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2033496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925EBA1-F913-4344-A455-C2B40F542239}" type="datetime1">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4027880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D2AFD8D-EE55-4320-9210-8525AB172E1A}" type="datetime1">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3908391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379F357-85C4-42B6-BB29-BC95CDACF549}" type="datetime1">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156215936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379F357-85C4-42B6-BB29-BC95CDACF549}" type="datetime1">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7552507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379F357-85C4-42B6-BB29-BC95CDACF549}" type="datetime1">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169396875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379F357-85C4-42B6-BB29-BC95CDACF549}" type="datetime1">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33203322"/>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379F357-85C4-42B6-BB29-BC95CDACF549}" type="datetime1">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422696665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612567-1606-4C21-9FC9-C786581CC085}" type="datetime1">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23295937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07DBFE-4BB8-4C64-955B-E96553EE5E57}" type="datetime1">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4285783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379F357-85C4-42B6-BB29-BC95CDACF549}" type="datetime1">
              <a:rPr lang="en-IN" smtClean="0"/>
              <a:t>13-04-2026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AC6FCF5-E469-4706-AB9E-6BB7DB751ED8}" type="slidenum">
              <a:rPr lang="en-IN" smtClean="0"/>
              <a:t>‹#›</a:t>
            </a:fld>
            <a:endParaRPr lang="en-IN"/>
          </a:p>
        </p:txBody>
      </p:sp>
    </p:spTree>
    <p:extLst>
      <p:ext uri="{BB962C8B-B14F-4D97-AF65-F5344CB8AC3E}">
        <p14:creationId xmlns:p14="http://schemas.microsoft.com/office/powerpoint/2010/main" val="247413036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4.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4.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51091" y="111032"/>
            <a:ext cx="6193208" cy="3311435"/>
          </a:xfrm>
        </p:spPr>
        <p:txBody>
          <a:bodyPr>
            <a:normAutofit/>
          </a:bodyPr>
          <a:lstStyle/>
          <a:p>
            <a:r>
              <a:rPr lang="en-US" sz="3200" dirty="0">
                <a:latin typeface="Times New Roman" panose="02020603050405020304" pitchFamily="18" charset="0"/>
                <a:cs typeface="Times New Roman" panose="02020603050405020304" pitchFamily="18" charset="0"/>
              </a:rPr>
              <a:t>Next-Gen PHOENIX ​Personalized Hybrid Online-Offline Educational Network &amp; Information </a:t>
            </a:r>
            <a:r>
              <a:rPr lang="en-US" sz="3200" dirty="0" err="1">
                <a:latin typeface="Times New Roman" panose="02020603050405020304" pitchFamily="18" charset="0"/>
                <a:cs typeface="Times New Roman" panose="02020603050405020304" pitchFamily="18" charset="0"/>
              </a:rPr>
              <a:t>eXchange</a:t>
            </a:r>
            <a:endParaRPr lang="en-IN" sz="32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5AC6FCF5-E469-4706-AB9E-6BB7DB751ED8}" type="slidenum">
              <a:rPr lang="en-IN" smtClean="0"/>
              <a:t>1</a:t>
            </a:fld>
            <a:endParaRPr lang="en-IN"/>
          </a:p>
        </p:txBody>
      </p:sp>
      <p:sp>
        <p:nvSpPr>
          <p:cNvPr id="4" name="TextBox 3">
            <a:extLst>
              <a:ext uri="{FF2B5EF4-FFF2-40B4-BE49-F238E27FC236}">
                <a16:creationId xmlns:a16="http://schemas.microsoft.com/office/drawing/2014/main" id="{4FDD4D77-3C69-530E-064E-3D5823564F04}"/>
              </a:ext>
            </a:extLst>
          </p:cNvPr>
          <p:cNvSpPr txBox="1"/>
          <p:nvPr/>
        </p:nvSpPr>
        <p:spPr>
          <a:xfrm>
            <a:off x="657808" y="4655975"/>
            <a:ext cx="1819469" cy="369332"/>
          </a:xfrm>
          <a:prstGeom prst="rect">
            <a:avLst/>
          </a:prstGeom>
          <a:noFill/>
        </p:spPr>
        <p:txBody>
          <a:bodyPr wrap="square" rtlCol="0">
            <a:spAutoFit/>
          </a:bodyPr>
          <a:lstStyle/>
          <a:p>
            <a:r>
              <a:rPr lang="en-IN" b="1" dirty="0"/>
              <a:t>Submitted by:</a:t>
            </a:r>
          </a:p>
        </p:txBody>
      </p:sp>
      <p:sp>
        <p:nvSpPr>
          <p:cNvPr id="28" name="TextBox 27">
            <a:extLst>
              <a:ext uri="{FF2B5EF4-FFF2-40B4-BE49-F238E27FC236}">
                <a16:creationId xmlns:a16="http://schemas.microsoft.com/office/drawing/2014/main" id="{0BC2BE78-5CB3-62BB-AAE6-2D34CBE1E24B}"/>
              </a:ext>
            </a:extLst>
          </p:cNvPr>
          <p:cNvSpPr txBox="1"/>
          <p:nvPr/>
        </p:nvSpPr>
        <p:spPr>
          <a:xfrm>
            <a:off x="1010761" y="5118032"/>
            <a:ext cx="2140330" cy="923330"/>
          </a:xfrm>
          <a:prstGeom prst="rect">
            <a:avLst/>
          </a:prstGeom>
          <a:noFill/>
        </p:spPr>
        <p:txBody>
          <a:bodyPr wrap="none" rtlCol="0">
            <a:spAutoFit/>
          </a:bodyPr>
          <a:lstStyle/>
          <a:p>
            <a:r>
              <a:rPr lang="en-IN" dirty="0"/>
              <a:t>Fathima Ashfa. B</a:t>
            </a:r>
          </a:p>
          <a:p>
            <a:r>
              <a:rPr lang="en-IN" dirty="0"/>
              <a:t>Faseeha Zulaika. N</a:t>
            </a:r>
          </a:p>
          <a:p>
            <a:r>
              <a:rPr lang="en-IN" dirty="0" err="1"/>
              <a:t>Hafna</a:t>
            </a:r>
            <a:r>
              <a:rPr lang="en-IN" dirty="0"/>
              <a:t>. S</a:t>
            </a:r>
          </a:p>
        </p:txBody>
      </p:sp>
      <p:sp>
        <p:nvSpPr>
          <p:cNvPr id="33" name="TextBox 32">
            <a:extLst>
              <a:ext uri="{FF2B5EF4-FFF2-40B4-BE49-F238E27FC236}">
                <a16:creationId xmlns:a16="http://schemas.microsoft.com/office/drawing/2014/main" id="{72FE2596-35BB-1BFE-D801-02C66605F2D2}"/>
              </a:ext>
            </a:extLst>
          </p:cNvPr>
          <p:cNvSpPr txBox="1"/>
          <p:nvPr/>
        </p:nvSpPr>
        <p:spPr>
          <a:xfrm>
            <a:off x="3972012" y="5579697"/>
            <a:ext cx="4646644" cy="872483"/>
          </a:xfrm>
          <a:prstGeom prst="rect">
            <a:avLst/>
          </a:prstGeom>
          <a:noFill/>
        </p:spPr>
        <p:txBody>
          <a:bodyPr wrap="square" rtlCol="0">
            <a:spAutoFit/>
          </a:bodyPr>
          <a:lstStyle/>
          <a:p>
            <a:pPr>
              <a:lnSpc>
                <a:spcPct val="150000"/>
              </a:lnSpc>
            </a:pPr>
            <a:br>
              <a:rPr lang="en-US" dirty="0"/>
            </a:br>
            <a:r>
              <a:rPr lang="en-US" dirty="0"/>
              <a:t> Mrs. </a:t>
            </a:r>
            <a:r>
              <a:rPr lang="en-US" dirty="0" err="1"/>
              <a:t>Benedic</a:t>
            </a:r>
            <a:r>
              <a:rPr lang="en-US" dirty="0"/>
              <a:t> </a:t>
            </a:r>
            <a:r>
              <a:rPr lang="en-US" dirty="0" err="1"/>
              <a:t>Dhona</a:t>
            </a:r>
            <a:r>
              <a:rPr lang="en-US" dirty="0"/>
              <a:t>, B.Tech., M.E., Ph.D.</a:t>
            </a:r>
            <a:endParaRPr lang="en-IN" dirty="0"/>
          </a:p>
        </p:txBody>
      </p:sp>
      <p:sp>
        <p:nvSpPr>
          <p:cNvPr id="34" name="TextBox 33">
            <a:extLst>
              <a:ext uri="{FF2B5EF4-FFF2-40B4-BE49-F238E27FC236}">
                <a16:creationId xmlns:a16="http://schemas.microsoft.com/office/drawing/2014/main" id="{F78240AB-44CC-BBA2-8743-43839EFD90A6}"/>
              </a:ext>
            </a:extLst>
          </p:cNvPr>
          <p:cNvSpPr txBox="1"/>
          <p:nvPr/>
        </p:nvSpPr>
        <p:spPr>
          <a:xfrm>
            <a:off x="4092941" y="5718196"/>
            <a:ext cx="2438488" cy="646331"/>
          </a:xfrm>
          <a:prstGeom prst="rect">
            <a:avLst/>
          </a:prstGeom>
          <a:noFill/>
        </p:spPr>
        <p:txBody>
          <a:bodyPr wrap="none" rtlCol="0">
            <a:spAutoFit/>
          </a:bodyPr>
          <a:lstStyle/>
          <a:p>
            <a:r>
              <a:rPr lang="en-IN" b="1" dirty="0"/>
              <a:t>Project Guide Name:</a:t>
            </a:r>
          </a:p>
          <a:p>
            <a:endParaRPr lang="en-IN" dirty="0"/>
          </a:p>
        </p:txBody>
      </p:sp>
      <p:cxnSp>
        <p:nvCxnSpPr>
          <p:cNvPr id="6" name="Straight Connector 5">
            <a:extLst>
              <a:ext uri="{FF2B5EF4-FFF2-40B4-BE49-F238E27FC236}">
                <a16:creationId xmlns:a16="http://schemas.microsoft.com/office/drawing/2014/main" id="{4A04C714-FF50-4657-01C8-9FB81BCBB131}"/>
              </a:ext>
            </a:extLst>
          </p:cNvPr>
          <p:cNvCxnSpPr>
            <a:cxnSpLocks/>
          </p:cNvCxnSpPr>
          <p:nvPr/>
        </p:nvCxnSpPr>
        <p:spPr>
          <a:xfrm>
            <a:off x="7807124" y="6133959"/>
            <a:ext cx="434051"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6335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505" y="200039"/>
            <a:ext cx="10515600" cy="1325563"/>
          </a:xfrm>
        </p:spPr>
        <p:txBody>
          <a:bodyPr/>
          <a:lstStyle/>
          <a:p>
            <a:r>
              <a:rPr lang="en-US" dirty="0"/>
              <a:t>ABSTRACT</a:t>
            </a:r>
            <a:endParaRPr lang="en-IN" dirty="0"/>
          </a:p>
        </p:txBody>
      </p:sp>
      <p:sp>
        <p:nvSpPr>
          <p:cNvPr id="3" name="Content Placeholder 2"/>
          <p:cNvSpPr>
            <a:spLocks noGrp="1"/>
          </p:cNvSpPr>
          <p:nvPr>
            <p:ph idx="1"/>
          </p:nvPr>
        </p:nvSpPr>
        <p:spPr>
          <a:xfrm>
            <a:off x="478588" y="970297"/>
            <a:ext cx="8743789" cy="5652571"/>
          </a:xfrm>
        </p:spPr>
        <p:txBody>
          <a:bodyPr>
            <a:normAutofit fontScale="62500" lnSpcReduction="20000"/>
          </a:bodyPr>
          <a:lstStyle/>
          <a:p>
            <a:pPr algn="just">
              <a:lnSpc>
                <a:spcPct val="150000"/>
              </a:lnSpc>
            </a:pPr>
            <a:r>
              <a:rPr lang="en-US" sz="2400" dirty="0">
                <a:latin typeface="Times New Roman" panose="02020603050405020304" pitchFamily="18" charset="0"/>
                <a:cs typeface="Times New Roman" panose="02020603050405020304" pitchFamily="18" charset="0"/>
              </a:rPr>
              <a:t>With the growth of hybrid learning environments, students require effective guidance to choose suitable courses, educational institutions, and career opportunities. </a:t>
            </a:r>
          </a:p>
          <a:p>
            <a:pPr algn="just">
              <a:lnSpc>
                <a:spcPct val="150000"/>
              </a:lnSpc>
            </a:pPr>
            <a:r>
              <a:rPr lang="en-US" sz="2400" dirty="0">
                <a:latin typeface="Times New Roman" panose="02020603050405020304" pitchFamily="18" charset="0"/>
                <a:cs typeface="Times New Roman" panose="02020603050405020304" pitchFamily="18" charset="0"/>
              </a:rPr>
              <a:t>Existing recommendation systems mainly focus on online content and fail to integrate offline education, departmental relevance, and employment needs. </a:t>
            </a:r>
          </a:p>
          <a:p>
            <a:pPr algn="just">
              <a:lnSpc>
                <a:spcPct val="150000"/>
              </a:lnSpc>
            </a:pPr>
            <a:r>
              <a:rPr lang="en-US" sz="2400" dirty="0">
                <a:latin typeface="Times New Roman" panose="02020603050405020304" pitchFamily="18" charset="0"/>
                <a:cs typeface="Times New Roman" panose="02020603050405020304" pitchFamily="18" charset="0"/>
              </a:rPr>
              <a:t>This project proposes Next-Gen PHOENIX, a crowdsourced, hybrid online–offline educational recommendation system using Machine Learning, Deep Learning, and Explainable AI.</a:t>
            </a:r>
          </a:p>
          <a:p>
            <a:pPr algn="just">
              <a:lnSpc>
                <a:spcPct val="150000"/>
              </a:lnSpc>
            </a:pPr>
            <a:r>
              <a:rPr lang="en-US" sz="2400" dirty="0">
                <a:latin typeface="Times New Roman" panose="02020603050405020304" pitchFamily="18" charset="0"/>
                <a:cs typeface="Times New Roman" panose="02020603050405020304" pitchFamily="18" charset="0"/>
              </a:rPr>
              <a:t>The system recommends courses based on the student’s department and interests, displays relevant job vacancies posted by companies, and suggests suitable online learning tools and nearby offline institutions. </a:t>
            </a:r>
          </a:p>
          <a:p>
            <a:pPr algn="just">
              <a:lnSpc>
                <a:spcPct val="150000"/>
              </a:lnSpc>
            </a:pPr>
            <a:r>
              <a:rPr lang="en-US" sz="2400" dirty="0">
                <a:latin typeface="Times New Roman" panose="02020603050405020304" pitchFamily="18" charset="0"/>
                <a:cs typeface="Times New Roman" panose="02020603050405020304" pitchFamily="18" charset="0"/>
              </a:rPr>
              <a:t>Crowdsourced reviews, ratings, and surveys are used to improve recommendation accuracy, while fake reviews are filtered to ensure reliability. </a:t>
            </a:r>
          </a:p>
          <a:p>
            <a:pPr algn="just">
              <a:lnSpc>
                <a:spcPct val="150000"/>
              </a:lnSpc>
            </a:pPr>
            <a:r>
              <a:rPr lang="en-US" sz="2400" dirty="0">
                <a:latin typeface="Times New Roman" panose="02020603050405020304" pitchFamily="18" charset="0"/>
                <a:cs typeface="Times New Roman" panose="02020603050405020304" pitchFamily="18" charset="0"/>
              </a:rPr>
              <a:t>Explainable AI provides transparent reasoning for recommendations, helping students make informed decisions. </a:t>
            </a:r>
          </a:p>
          <a:p>
            <a:pPr algn="just">
              <a:lnSpc>
                <a:spcPct val="150000"/>
              </a:lnSpc>
            </a:pPr>
            <a:r>
              <a:rPr lang="en-US" sz="2400" dirty="0">
                <a:latin typeface="Times New Roman" panose="02020603050405020304" pitchFamily="18" charset="0"/>
                <a:cs typeface="Times New Roman" panose="02020603050405020304" pitchFamily="18" charset="0"/>
              </a:rPr>
              <a:t>Overall, the proposed system delivers a personalized learning and career pathway, enhancing trust, relevance, and decision-making in modern educational ecosystems.</a:t>
            </a:r>
          </a:p>
        </p:txBody>
      </p:sp>
      <p:sp>
        <p:nvSpPr>
          <p:cNvPr id="6" name="Slide Number Placeholder 5"/>
          <p:cNvSpPr>
            <a:spLocks noGrp="1"/>
          </p:cNvSpPr>
          <p:nvPr>
            <p:ph type="sldNum" sz="quarter" idx="12"/>
          </p:nvPr>
        </p:nvSpPr>
        <p:spPr/>
        <p:txBody>
          <a:bodyPr/>
          <a:lstStyle/>
          <a:p>
            <a:fld id="{5AC6FCF5-E469-4706-AB9E-6BB7DB751ED8}" type="slidenum">
              <a:rPr lang="en-IN" smtClean="0"/>
              <a:t>2</a:t>
            </a:fld>
            <a:endParaRPr lang="en-IN"/>
          </a:p>
        </p:txBody>
      </p:sp>
    </p:spTree>
    <p:extLst>
      <p:ext uri="{BB962C8B-B14F-4D97-AF65-F5344CB8AC3E}">
        <p14:creationId xmlns:p14="http://schemas.microsoft.com/office/powerpoint/2010/main" val="1551690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a:t>
            </a:r>
            <a:endParaRPr lang="en-IN" dirty="0"/>
          </a:p>
        </p:txBody>
      </p:sp>
      <p:sp>
        <p:nvSpPr>
          <p:cNvPr id="4" name="Rectangle 1"/>
          <p:cNvSpPr>
            <a:spLocks noGrp="1" noChangeArrowheads="1"/>
          </p:cNvSpPr>
          <p:nvPr>
            <p:ph idx="1"/>
          </p:nvPr>
        </p:nvSpPr>
        <p:spPr bwMode="auto">
          <a:xfrm>
            <a:off x="565098" y="1391084"/>
            <a:ext cx="8748720" cy="4042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To develop a crowdsourced, hybrid online–offline educational recommendation system that provides personalized course, institution, and career guidance for students.</a:t>
            </a:r>
          </a:p>
          <a:p>
            <a:pPr algn="just">
              <a:lnSpc>
                <a:spcPct val="150000"/>
              </a:lnSpc>
            </a:pPr>
            <a:r>
              <a:rPr lang="en-US" sz="2000" dirty="0">
                <a:latin typeface="Times New Roman" panose="02020603050405020304" pitchFamily="18" charset="0"/>
                <a:cs typeface="Times New Roman" panose="02020603050405020304" pitchFamily="18" charset="0"/>
              </a:rPr>
              <a:t>To recommend department-based courses, mapped job vacancies, and suitable educational institutions using Machine Learning, Deep Learning, and context-aware analysis.</a:t>
            </a:r>
          </a:p>
          <a:p>
            <a:pPr algn="just">
              <a:lnSpc>
                <a:spcPct val="150000"/>
              </a:lnSpc>
            </a:pPr>
            <a:r>
              <a:rPr lang="en-US" sz="2000" dirty="0">
                <a:latin typeface="Times New Roman" panose="02020603050405020304" pitchFamily="18" charset="0"/>
                <a:cs typeface="Times New Roman" panose="02020603050405020304" pitchFamily="18" charset="0"/>
              </a:rPr>
              <a:t>To ensure transparent, reliable, and trustworthy recommendations through Explainable AI and genuine crowdsourced learner feedback.</a:t>
            </a:r>
          </a:p>
        </p:txBody>
      </p:sp>
      <p:sp>
        <p:nvSpPr>
          <p:cNvPr id="6" name="Slide Number Placeholder 5"/>
          <p:cNvSpPr>
            <a:spLocks noGrp="1"/>
          </p:cNvSpPr>
          <p:nvPr>
            <p:ph type="sldNum" sz="quarter" idx="12"/>
          </p:nvPr>
        </p:nvSpPr>
        <p:spPr/>
        <p:txBody>
          <a:bodyPr/>
          <a:lstStyle/>
          <a:p>
            <a:fld id="{5AC6FCF5-E469-4706-AB9E-6BB7DB751ED8}" type="slidenum">
              <a:rPr lang="en-IN" smtClean="0"/>
              <a:t>3</a:t>
            </a:fld>
            <a:endParaRPr lang="en-IN"/>
          </a:p>
        </p:txBody>
      </p:sp>
      <p:sp>
        <p:nvSpPr>
          <p:cNvPr id="3"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62222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008" y="612018"/>
            <a:ext cx="9601196" cy="1303867"/>
          </a:xfrm>
        </p:spPr>
        <p:txBody>
          <a:bodyPr/>
          <a:lstStyle/>
          <a:p>
            <a:r>
              <a:rPr lang="en-US" dirty="0"/>
              <a:t>INTRODUCTION</a:t>
            </a:r>
            <a:endParaRPr lang="en-IN" dirty="0"/>
          </a:p>
        </p:txBody>
      </p:sp>
      <p:sp>
        <p:nvSpPr>
          <p:cNvPr id="4" name="Rectangle 1"/>
          <p:cNvSpPr>
            <a:spLocks noGrp="1" noChangeArrowheads="1"/>
          </p:cNvSpPr>
          <p:nvPr>
            <p:ph idx="1"/>
          </p:nvPr>
        </p:nvSpPr>
        <p:spPr bwMode="auto">
          <a:xfrm>
            <a:off x="714614" y="1408428"/>
            <a:ext cx="8755958"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Rapid growth of hybrid learning has increased the need for effective guidance in choosing courses, institutions, and career paths.</a:t>
            </a:r>
          </a:p>
          <a:p>
            <a:pPr algn="just"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Existing recommendation systems mainly focus on online learning, ignoring offline education and real-world constraints.</a:t>
            </a:r>
          </a:p>
          <a:p>
            <a:pPr algn="just"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Students face difficulty in identifying department-relevant courses, suitable institutions, and job opportunities.</a:t>
            </a:r>
          </a:p>
          <a:p>
            <a:pPr algn="just"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Crowdsourced reviews, ratings, and surveys provide valuable insights but are often unstructured and unreliable.</a:t>
            </a:r>
          </a:p>
          <a:p>
            <a:pPr algn="just"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Next-Gen PHOENIX addresses these issues by offering a personalized, hybrid online–offline recommendation system using AI techniques.</a:t>
            </a:r>
          </a:p>
        </p:txBody>
      </p:sp>
      <p:sp>
        <p:nvSpPr>
          <p:cNvPr id="5" name="Slide Number Placeholder 4"/>
          <p:cNvSpPr>
            <a:spLocks noGrp="1"/>
          </p:cNvSpPr>
          <p:nvPr>
            <p:ph type="sldNum" sz="quarter" idx="12"/>
          </p:nvPr>
        </p:nvSpPr>
        <p:spPr/>
        <p:txBody>
          <a:bodyPr/>
          <a:lstStyle/>
          <a:p>
            <a:fld id="{5AC6FCF5-E469-4706-AB9E-6BB7DB751ED8}" type="slidenum">
              <a:rPr lang="en-IN" smtClean="0"/>
              <a:t>4</a:t>
            </a:fld>
            <a:endParaRPr lang="en-IN"/>
          </a:p>
        </p:txBody>
      </p:sp>
    </p:spTree>
    <p:extLst>
      <p:ext uri="{BB962C8B-B14F-4D97-AF65-F5344CB8AC3E}">
        <p14:creationId xmlns:p14="http://schemas.microsoft.com/office/powerpoint/2010/main" val="3440012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0262" y="300446"/>
            <a:ext cx="9554095" cy="1263968"/>
          </a:xfrm>
        </p:spPr>
        <p:txBody>
          <a:bodyPr/>
          <a:lstStyle/>
          <a:p>
            <a:r>
              <a:rPr lang="en-US" dirty="0"/>
              <a:t>EXISTING SYSTEM </a:t>
            </a:r>
            <a:endParaRPr lang="en-IN" dirty="0"/>
          </a:p>
        </p:txBody>
      </p:sp>
      <p:sp>
        <p:nvSpPr>
          <p:cNvPr id="3" name="Content Placeholder 2"/>
          <p:cNvSpPr>
            <a:spLocks noGrp="1"/>
          </p:cNvSpPr>
          <p:nvPr>
            <p:ph idx="1"/>
          </p:nvPr>
        </p:nvSpPr>
        <p:spPr>
          <a:xfrm>
            <a:off x="515982" y="1005839"/>
            <a:ext cx="8667207" cy="5381897"/>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Existing systems focus mainly on online educational apps and digital platforms.</a:t>
            </a:r>
          </a:p>
          <a:p>
            <a:pPr algn="just">
              <a:lnSpc>
                <a:spcPct val="150000"/>
              </a:lnSpc>
            </a:pPr>
            <a:r>
              <a:rPr lang="en-US" dirty="0">
                <a:latin typeface="Times New Roman" panose="02020603050405020304" pitchFamily="18" charset="0"/>
                <a:cs typeface="Times New Roman" panose="02020603050405020304" pitchFamily="18" charset="0"/>
              </a:rPr>
              <a:t>Recommendations are based on simple data sources such as star ratings, download counts, and basic usage statistics.</a:t>
            </a:r>
          </a:p>
          <a:p>
            <a:pPr algn="just">
              <a:lnSpc>
                <a:spcPct val="150000"/>
              </a:lnSpc>
            </a:pPr>
            <a:r>
              <a:rPr lang="en-US" dirty="0">
                <a:latin typeface="Times New Roman" panose="02020603050405020304" pitchFamily="18" charset="0"/>
                <a:cs typeface="Times New Roman" panose="02020603050405020304" pitchFamily="18" charset="0"/>
              </a:rPr>
              <a:t>Uses basic filtering techniques like keyword matching, popularity-based ranking, or category-wise recommendation.</a:t>
            </a:r>
          </a:p>
          <a:p>
            <a:pPr algn="just">
              <a:lnSpc>
                <a:spcPct val="150000"/>
              </a:lnSpc>
            </a:pPr>
            <a:r>
              <a:rPr lang="en-US" dirty="0">
                <a:latin typeface="Times New Roman" panose="02020603050405020304" pitchFamily="18" charset="0"/>
                <a:cs typeface="Times New Roman" panose="02020603050405020304" pitchFamily="18" charset="0"/>
              </a:rPr>
              <a:t>Advanced models such as Collaborative Filtering (CF) and Deep Learning (GRU, LSTM) are used only for app usage prediction.</a:t>
            </a:r>
          </a:p>
          <a:p>
            <a:pPr algn="just">
              <a:lnSpc>
                <a:spcPct val="150000"/>
              </a:lnSpc>
            </a:pPr>
            <a:r>
              <a:rPr lang="en-US" dirty="0">
                <a:latin typeface="Times New Roman" panose="02020603050405020304" pitchFamily="18" charset="0"/>
                <a:cs typeface="Times New Roman" panose="02020603050405020304" pitchFamily="18" charset="0"/>
              </a:rPr>
              <a:t>The system does not consider offline institutions, career goals, department relevance, or job vacancies.</a:t>
            </a:r>
          </a:p>
          <a:p>
            <a:pPr algn="just">
              <a:lnSpc>
                <a:spcPct val="150000"/>
              </a:lnSpc>
            </a:pPr>
            <a:r>
              <a:rPr lang="en-US" dirty="0">
                <a:latin typeface="Times New Roman" panose="02020603050405020304" pitchFamily="18" charset="0"/>
                <a:cs typeface="Times New Roman" panose="02020603050405020304" pitchFamily="18" charset="0"/>
              </a:rPr>
              <a:t>Lacks context awareness, </a:t>
            </a:r>
            <a:r>
              <a:rPr lang="en-US" dirty="0" err="1">
                <a:latin typeface="Times New Roman" panose="02020603050405020304" pitchFamily="18" charset="0"/>
                <a:cs typeface="Times New Roman" panose="02020603050405020304" pitchFamily="18" charset="0"/>
              </a:rPr>
              <a:t>explainability</a:t>
            </a:r>
            <a:r>
              <a:rPr lang="en-US" dirty="0">
                <a:latin typeface="Times New Roman" panose="02020603050405020304" pitchFamily="18" charset="0"/>
                <a:cs typeface="Times New Roman" panose="02020603050405020304" pitchFamily="18" charset="0"/>
              </a:rPr>
              <a:t>, and crowdsourced qualitative insights from real learners</a:t>
            </a:r>
            <a:r>
              <a:rPr lang="en-US" sz="1600" dirty="0">
                <a:latin typeface="Times New Roman" panose="02020603050405020304" pitchFamily="18" charset="0"/>
                <a:cs typeface="Times New Roman" panose="02020603050405020304" pitchFamily="18" charset="0"/>
              </a:rPr>
              <a:t>.</a:t>
            </a:r>
          </a:p>
        </p:txBody>
      </p:sp>
      <p:sp>
        <p:nvSpPr>
          <p:cNvPr id="6" name="Slide Number Placeholder 5"/>
          <p:cNvSpPr>
            <a:spLocks noGrp="1"/>
          </p:cNvSpPr>
          <p:nvPr>
            <p:ph type="sldNum" sz="quarter" idx="12"/>
          </p:nvPr>
        </p:nvSpPr>
        <p:spPr/>
        <p:txBody>
          <a:bodyPr/>
          <a:lstStyle/>
          <a:p>
            <a:fld id="{5AC6FCF5-E469-4706-AB9E-6BB7DB751ED8}" type="slidenum">
              <a:rPr lang="en-IN" smtClean="0"/>
              <a:t>5</a:t>
            </a:fld>
            <a:endParaRPr lang="en-IN"/>
          </a:p>
        </p:txBody>
      </p:sp>
    </p:spTree>
    <p:extLst>
      <p:ext uri="{BB962C8B-B14F-4D97-AF65-F5344CB8AC3E}">
        <p14:creationId xmlns:p14="http://schemas.microsoft.com/office/powerpoint/2010/main" val="808294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DRAWBACKS OF EXISTING SYSTEM</a:t>
            </a:r>
            <a:endParaRPr lang="en-IN" dirty="0"/>
          </a:p>
        </p:txBody>
      </p:sp>
      <p:sp>
        <p:nvSpPr>
          <p:cNvPr id="4" name="Rectangle 1"/>
          <p:cNvSpPr>
            <a:spLocks noGrp="1" noChangeArrowheads="1"/>
          </p:cNvSpPr>
          <p:nvPr>
            <p:ph idx="1"/>
          </p:nvPr>
        </p:nvSpPr>
        <p:spPr bwMode="auto">
          <a:xfrm>
            <a:off x="576429" y="1492292"/>
            <a:ext cx="8798859" cy="3530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lnSpc>
                <a:spcPct val="150000"/>
              </a:lnSpc>
            </a:pPr>
            <a:r>
              <a:rPr lang="en-US" sz="1800" dirty="0">
                <a:latin typeface="Times New Roman" panose="02020603050405020304" pitchFamily="18" charset="0"/>
                <a:cs typeface="Times New Roman" panose="02020603050405020304" pitchFamily="18" charset="0"/>
              </a:rPr>
              <a:t>Recommendations rely on simple metrics such as star ratings and download counts, which may not reflect actual learning quality.</a:t>
            </a:r>
          </a:p>
          <a:p>
            <a:pPr lvl="0" algn="just">
              <a:lnSpc>
                <a:spcPct val="150000"/>
              </a:lnSpc>
            </a:pPr>
            <a:r>
              <a:rPr lang="en-US" sz="1800" dirty="0">
                <a:latin typeface="Times New Roman" panose="02020603050405020304" pitchFamily="18" charset="0"/>
                <a:cs typeface="Times New Roman" panose="02020603050405020304" pitchFamily="18" charset="0"/>
              </a:rPr>
              <a:t>Uses basic filtering methods (keyword or popularity-based), resulting in generic and less personalized suggestions.</a:t>
            </a:r>
          </a:p>
          <a:p>
            <a:pPr lvl="0" algn="just">
              <a:lnSpc>
                <a:spcPct val="150000"/>
              </a:lnSpc>
            </a:pPr>
            <a:r>
              <a:rPr lang="en-US" sz="1800" dirty="0">
                <a:latin typeface="Times New Roman" panose="02020603050405020304" pitchFamily="18" charset="0"/>
                <a:cs typeface="Times New Roman" panose="02020603050405020304" pitchFamily="18" charset="0"/>
              </a:rPr>
              <a:t>Focuses only on online educational apps, ignoring offline courses and institutions.</a:t>
            </a:r>
          </a:p>
          <a:p>
            <a:pPr lvl="0" algn="just">
              <a:lnSpc>
                <a:spcPct val="150000"/>
              </a:lnSpc>
            </a:pPr>
            <a:r>
              <a:rPr lang="en-US" sz="1800" dirty="0">
                <a:latin typeface="Times New Roman" panose="02020603050405020304" pitchFamily="18" charset="0"/>
                <a:cs typeface="Times New Roman" panose="02020603050405020304" pitchFamily="18" charset="0"/>
              </a:rPr>
              <a:t>Lacks context awareness such as location, budget, and infrastructure availability.</a:t>
            </a:r>
          </a:p>
          <a:p>
            <a:pPr lvl="0" algn="just">
              <a:lnSpc>
                <a:spcPct val="150000"/>
              </a:lnSpc>
            </a:pPr>
            <a:r>
              <a:rPr lang="en-US" sz="1800" dirty="0">
                <a:latin typeface="Times New Roman" panose="02020603050405020304" pitchFamily="18" charset="0"/>
                <a:cs typeface="Times New Roman" panose="02020603050405020304" pitchFamily="18" charset="0"/>
              </a:rPr>
              <a:t>Cannot handle fake or biased reviews, reducing recommendation reliability</a:t>
            </a:r>
          </a:p>
        </p:txBody>
      </p:sp>
      <p:sp>
        <p:nvSpPr>
          <p:cNvPr id="5" name="Slide Number Placeholder 4"/>
          <p:cNvSpPr>
            <a:spLocks noGrp="1"/>
          </p:cNvSpPr>
          <p:nvPr>
            <p:ph type="sldNum" sz="quarter" idx="12"/>
          </p:nvPr>
        </p:nvSpPr>
        <p:spPr/>
        <p:txBody>
          <a:bodyPr/>
          <a:lstStyle/>
          <a:p>
            <a:fld id="{5AC6FCF5-E469-4706-AB9E-6BB7DB751ED8}" type="slidenum">
              <a:rPr lang="en-IN" smtClean="0"/>
              <a:t>6</a:t>
            </a:fld>
            <a:endParaRPr lang="en-IN"/>
          </a:p>
        </p:txBody>
      </p:sp>
    </p:spTree>
    <p:extLst>
      <p:ext uri="{BB962C8B-B14F-4D97-AF65-F5344CB8AC3E}">
        <p14:creationId xmlns:p14="http://schemas.microsoft.com/office/powerpoint/2010/main" val="3756240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4088" y="2725783"/>
            <a:ext cx="8596668" cy="1320800"/>
          </a:xfrm>
        </p:spPr>
        <p:txBody>
          <a:bodyPr/>
          <a:lstStyle/>
          <a:p>
            <a:r>
              <a:rPr lang="en-US" dirty="0"/>
              <a:t>					LITERATURE SURVEY</a:t>
            </a:r>
            <a:endParaRPr lang="en-IN" dirty="0"/>
          </a:p>
        </p:txBody>
      </p:sp>
      <p:sp>
        <p:nvSpPr>
          <p:cNvPr id="4" name="Slide Number Placeholder 3"/>
          <p:cNvSpPr>
            <a:spLocks noGrp="1"/>
          </p:cNvSpPr>
          <p:nvPr>
            <p:ph type="sldNum" sz="quarter" idx="12"/>
          </p:nvPr>
        </p:nvSpPr>
        <p:spPr/>
        <p:txBody>
          <a:bodyPr/>
          <a:lstStyle/>
          <a:p>
            <a:fld id="{5AC6FCF5-E469-4706-AB9E-6BB7DB751ED8}" type="slidenum">
              <a:rPr lang="en-IN" smtClean="0"/>
              <a:t>7</a:t>
            </a:fld>
            <a:endParaRPr lang="en-IN"/>
          </a:p>
        </p:txBody>
      </p:sp>
    </p:spTree>
    <p:extLst>
      <p:ext uri="{BB962C8B-B14F-4D97-AF65-F5344CB8AC3E}">
        <p14:creationId xmlns:p14="http://schemas.microsoft.com/office/powerpoint/2010/main" val="1859672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AC6FCF5-E469-4706-AB9E-6BB7DB751ED8}" type="slidenum">
              <a:rPr lang="en-IN" smtClean="0"/>
              <a:t>8</a:t>
            </a:fld>
            <a:endParaRPr lang="en-IN"/>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2010424208"/>
              </p:ext>
            </p:extLst>
          </p:nvPr>
        </p:nvGraphicFramePr>
        <p:xfrm>
          <a:off x="365759" y="666206"/>
          <a:ext cx="11103429" cy="4885508"/>
        </p:xfrm>
        <a:graphic>
          <a:graphicData uri="http://schemas.openxmlformats.org/drawingml/2006/table">
            <a:tbl>
              <a:tblPr firstRow="1" bandRow="1">
                <a:tableStyleId>{5C22544A-7EE6-4342-B048-85BDC9FD1C3A}</a:tableStyleId>
              </a:tblPr>
              <a:tblGrid>
                <a:gridCol w="823978">
                  <a:extLst>
                    <a:ext uri="{9D8B030D-6E8A-4147-A177-3AD203B41FA5}">
                      <a16:colId xmlns:a16="http://schemas.microsoft.com/office/drawing/2014/main" val="2240123510"/>
                    </a:ext>
                  </a:extLst>
                </a:gridCol>
                <a:gridCol w="1749405">
                  <a:extLst>
                    <a:ext uri="{9D8B030D-6E8A-4147-A177-3AD203B41FA5}">
                      <a16:colId xmlns:a16="http://schemas.microsoft.com/office/drawing/2014/main" val="4059429485"/>
                    </a:ext>
                  </a:extLst>
                </a:gridCol>
                <a:gridCol w="1489166">
                  <a:extLst>
                    <a:ext uri="{9D8B030D-6E8A-4147-A177-3AD203B41FA5}">
                      <a16:colId xmlns:a16="http://schemas.microsoft.com/office/drawing/2014/main" val="4245159501"/>
                    </a:ext>
                  </a:extLst>
                </a:gridCol>
                <a:gridCol w="1658983">
                  <a:extLst>
                    <a:ext uri="{9D8B030D-6E8A-4147-A177-3AD203B41FA5}">
                      <a16:colId xmlns:a16="http://schemas.microsoft.com/office/drawing/2014/main" val="245499448"/>
                    </a:ext>
                  </a:extLst>
                </a:gridCol>
                <a:gridCol w="1593668">
                  <a:extLst>
                    <a:ext uri="{9D8B030D-6E8A-4147-A177-3AD203B41FA5}">
                      <a16:colId xmlns:a16="http://schemas.microsoft.com/office/drawing/2014/main" val="1278585265"/>
                    </a:ext>
                  </a:extLst>
                </a:gridCol>
                <a:gridCol w="1802675">
                  <a:extLst>
                    <a:ext uri="{9D8B030D-6E8A-4147-A177-3AD203B41FA5}">
                      <a16:colId xmlns:a16="http://schemas.microsoft.com/office/drawing/2014/main" val="3959358324"/>
                    </a:ext>
                  </a:extLst>
                </a:gridCol>
                <a:gridCol w="1985554">
                  <a:extLst>
                    <a:ext uri="{9D8B030D-6E8A-4147-A177-3AD203B41FA5}">
                      <a16:colId xmlns:a16="http://schemas.microsoft.com/office/drawing/2014/main" val="1486998707"/>
                    </a:ext>
                  </a:extLst>
                </a:gridCol>
              </a:tblGrid>
              <a:tr h="940526">
                <a:tc>
                  <a:txBody>
                    <a:bodyPr/>
                    <a:lstStyle/>
                    <a:p>
                      <a:r>
                        <a:rPr lang="en-IN" sz="1600" dirty="0" err="1">
                          <a:latin typeface="Times New Roman" panose="02020603050405020304" pitchFamily="18" charset="0"/>
                          <a:cs typeface="Times New Roman" panose="02020603050405020304" pitchFamily="18" charset="0"/>
                        </a:rPr>
                        <a:t>S.No</a:t>
                      </a:r>
                      <a:endParaRPr lang="en-IN" sz="1600" dirty="0">
                        <a:latin typeface="Times New Roman" panose="02020603050405020304" pitchFamily="18" charset="0"/>
                        <a:cs typeface="Times New Roman" panose="02020603050405020304" pitchFamily="18" charset="0"/>
                      </a:endParaRPr>
                    </a:p>
                  </a:txBody>
                  <a:tcPr anchor="ctr"/>
                </a:tc>
                <a:tc>
                  <a:txBody>
                    <a:bodyPr/>
                    <a:lstStyle/>
                    <a:p>
                      <a:r>
                        <a:rPr lang="en-IN" sz="1600" dirty="0">
                          <a:latin typeface="Times New Roman" panose="02020603050405020304" pitchFamily="18" charset="0"/>
                          <a:cs typeface="Times New Roman" panose="02020603050405020304" pitchFamily="18" charset="0"/>
                        </a:rPr>
                        <a:t>TITLE OF THE PAPER</a:t>
                      </a:r>
                    </a:p>
                  </a:txBody>
                  <a:tcPr/>
                </a:tc>
                <a:tc>
                  <a:txBody>
                    <a:bodyPr/>
                    <a:lstStyle/>
                    <a:p>
                      <a:r>
                        <a:rPr lang="en-IN" sz="1600" dirty="0">
                          <a:latin typeface="Times New Roman" panose="02020603050405020304" pitchFamily="18" charset="0"/>
                          <a:cs typeface="Times New Roman" panose="02020603050405020304" pitchFamily="18" charset="0"/>
                        </a:rPr>
                        <a:t>AUTHOR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JOURNAL NAME &amp; YEAR</a:t>
                      </a: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METHOD USED</a:t>
                      </a:r>
                    </a:p>
                  </a:txBody>
                  <a:tcPr/>
                </a:tc>
                <a:tc>
                  <a:txBody>
                    <a:bodyPr/>
                    <a:lstStyle/>
                    <a:p>
                      <a:r>
                        <a:rPr lang="en-IN" sz="1600" dirty="0">
                          <a:latin typeface="Times New Roman" panose="02020603050405020304" pitchFamily="18" charset="0"/>
                          <a:cs typeface="Times New Roman" panose="02020603050405020304" pitchFamily="18" charset="0"/>
                        </a:rPr>
                        <a:t>ADVANTAGES</a:t>
                      </a:r>
                    </a:p>
                  </a:txBody>
                  <a:tcPr/>
                </a:tc>
                <a:tc>
                  <a:txBody>
                    <a:bodyPr/>
                    <a:lstStyle/>
                    <a:p>
                      <a:r>
                        <a:rPr lang="en-IN" sz="1600" dirty="0">
                          <a:latin typeface="Times New Roman" panose="02020603050405020304" pitchFamily="18" charset="0"/>
                          <a:cs typeface="Times New Roman" panose="02020603050405020304" pitchFamily="18" charset="0"/>
                        </a:rPr>
                        <a:t>DISADVANTAGES</a:t>
                      </a:r>
                    </a:p>
                  </a:txBody>
                  <a:tcPr/>
                </a:tc>
                <a:extLst>
                  <a:ext uri="{0D108BD9-81ED-4DB2-BD59-A6C34878D82A}">
                    <a16:rowId xmlns:a16="http://schemas.microsoft.com/office/drawing/2014/main" val="3553642451"/>
                  </a:ext>
                </a:extLst>
              </a:tr>
              <a:tr h="1567542">
                <a:tc>
                  <a:txBody>
                    <a:bodyPr/>
                    <a:lstStyle/>
                    <a:p>
                      <a:r>
                        <a:rPr lang="en-US" sz="1600" dirty="0">
                          <a:latin typeface="Times New Roman" panose="02020603050405020304" pitchFamily="18" charset="0"/>
                          <a:cs typeface="Times New Roman" panose="02020603050405020304" pitchFamily="18" charset="0"/>
                        </a:rPr>
                        <a:t>1</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AI-Driven Hybrid Learning Ecosystems for Personalized Education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Wang et al.</a:t>
                      </a:r>
                    </a:p>
                  </a:txBody>
                  <a:tcPr/>
                </a:tc>
                <a:tc>
                  <a:txBody>
                    <a:bodyPr/>
                    <a:lstStyle/>
                    <a:p>
                      <a:r>
                        <a:rPr lang="en-IN" sz="1600" dirty="0">
                          <a:latin typeface="Times New Roman" panose="02020603050405020304" pitchFamily="18" charset="0"/>
                          <a:cs typeface="Times New Roman" panose="02020603050405020304" pitchFamily="18" charset="0"/>
                        </a:rPr>
                        <a:t>IEEE Access (2024)</a:t>
                      </a:r>
                    </a:p>
                  </a:txBody>
                  <a:tcPr/>
                </a:tc>
                <a:tc>
                  <a:txBody>
                    <a:bodyPr/>
                    <a:lstStyle/>
                    <a:p>
                      <a:r>
                        <a:rPr lang="en-US" sz="1600" dirty="0">
                          <a:latin typeface="Times New Roman" panose="02020603050405020304" pitchFamily="18" charset="0"/>
                          <a:cs typeface="Times New Roman" panose="02020603050405020304" pitchFamily="18" charset="0"/>
                        </a:rPr>
                        <a:t>AI-based learner profiling + hybrid content delivery</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 Personalized learning paths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Higher engagement</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 High setup cost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Privacy concerns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87222081"/>
                  </a:ext>
                </a:extLst>
              </a:tr>
              <a:tr h="375894">
                <a:tc>
                  <a:txBody>
                    <a:bodyPr/>
                    <a:lstStyle/>
                    <a:p>
                      <a:r>
                        <a:rPr lang="en-US" sz="1600" dirty="0">
                          <a:latin typeface="Times New Roman" panose="02020603050405020304" pitchFamily="18" charset="0"/>
                          <a:cs typeface="Times New Roman" panose="02020603050405020304" pitchFamily="18" charset="0"/>
                        </a:rPr>
                        <a:t>2</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Intelligent Blended Learning Platforms Using Learning Analytics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Kumar &amp; Lee</a:t>
                      </a:r>
                    </a:p>
                  </a:txBody>
                  <a:tcPr/>
                </a:tc>
                <a:tc>
                  <a:txBody>
                    <a:bodyPr/>
                    <a:lstStyle/>
                    <a:p>
                      <a:r>
                        <a:rPr lang="en-IN" sz="1600" dirty="0">
                          <a:latin typeface="Times New Roman" panose="02020603050405020304" pitchFamily="18" charset="0"/>
                          <a:cs typeface="Times New Roman" panose="02020603050405020304" pitchFamily="18" charset="0"/>
                        </a:rPr>
                        <a:t>Elsevier  (2024)</a:t>
                      </a:r>
                    </a:p>
                  </a:txBody>
                  <a:tcPr/>
                </a:tc>
                <a:tc>
                  <a:txBody>
                    <a:bodyPr/>
                    <a:lstStyle/>
                    <a:p>
                      <a:r>
                        <a:rPr lang="en-IN" sz="1600" dirty="0">
                          <a:latin typeface="Times New Roman" panose="02020603050405020304" pitchFamily="18" charset="0"/>
                          <a:cs typeface="Times New Roman" panose="02020603050405020304" pitchFamily="18" charset="0"/>
                        </a:rPr>
                        <a:t>Learning analytics + predictive models</a:t>
                      </a:r>
                    </a:p>
                  </a:txBody>
                  <a:tcPr/>
                </a:tc>
                <a:tc>
                  <a:txBody>
                    <a:bodyPr/>
                    <a:lstStyle/>
                    <a:p>
                      <a:r>
                        <a:rPr lang="en-US" sz="1600" dirty="0">
                          <a:latin typeface="Times New Roman" panose="02020603050405020304" pitchFamily="18" charset="0"/>
                          <a:cs typeface="Times New Roman" panose="02020603050405020304" pitchFamily="18" charset="0"/>
                        </a:rPr>
                        <a:t>Early slow-learner detection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Data-driven insights</a:t>
                      </a:r>
                      <a:endParaRPr lang="en-IN" sz="1600" dirty="0">
                        <a:latin typeface="Times New Roman" panose="02020603050405020304" pitchFamily="18" charset="0"/>
                        <a:cs typeface="Times New Roman" panose="02020603050405020304" pitchFamily="18" charset="0"/>
                      </a:endParaRPr>
                    </a:p>
                  </a:txBody>
                  <a:tcPr/>
                </a:tc>
                <a:tc>
                  <a:txBody>
                    <a:bodyPr/>
                    <a:lstStyle/>
                    <a:p>
                      <a:r>
                        <a:rPr lang="fr-FR" sz="1600" dirty="0">
                          <a:latin typeface="Times New Roman" panose="02020603050405020304" pitchFamily="18" charset="0"/>
                          <a:cs typeface="Times New Roman" panose="02020603050405020304" pitchFamily="18" charset="0"/>
                        </a:rPr>
                        <a:t>• </a:t>
                      </a:r>
                      <a:r>
                        <a:rPr lang="fr-FR" sz="1600" dirty="0" err="1">
                          <a:latin typeface="Times New Roman" panose="02020603050405020304" pitchFamily="18" charset="0"/>
                          <a:cs typeface="Times New Roman" panose="02020603050405020304" pitchFamily="18" charset="0"/>
                        </a:rPr>
                        <a:t>Requires</a:t>
                      </a:r>
                      <a:r>
                        <a:rPr lang="fr-FR" sz="1600" dirty="0">
                          <a:latin typeface="Times New Roman" panose="02020603050405020304" pitchFamily="18" charset="0"/>
                          <a:cs typeface="Times New Roman" panose="02020603050405020304" pitchFamily="18" charset="0"/>
                        </a:rPr>
                        <a:t> large </a:t>
                      </a:r>
                      <a:r>
                        <a:rPr lang="fr-FR" sz="1600" dirty="0" err="1">
                          <a:latin typeface="Times New Roman" panose="02020603050405020304" pitchFamily="18" charset="0"/>
                          <a:cs typeface="Times New Roman" panose="02020603050405020304" pitchFamily="18" charset="0"/>
                        </a:rPr>
                        <a:t>datasets</a:t>
                      </a:r>
                      <a:br>
                        <a:rPr lang="fr-FR" sz="1600" dirty="0">
                          <a:latin typeface="Times New Roman" panose="02020603050405020304" pitchFamily="18" charset="0"/>
                          <a:cs typeface="Times New Roman" panose="02020603050405020304" pitchFamily="18" charset="0"/>
                        </a:rPr>
                      </a:br>
                      <a:r>
                        <a:rPr lang="fr-FR" sz="1600" dirty="0">
                          <a:latin typeface="Times New Roman" panose="02020603050405020304" pitchFamily="18" charset="0"/>
                          <a:cs typeface="Times New Roman" panose="02020603050405020304" pitchFamily="18" charset="0"/>
                        </a:rPr>
                        <a:t>• </a:t>
                      </a:r>
                      <a:r>
                        <a:rPr lang="fr-FR" sz="1600" dirty="0" err="1">
                          <a:latin typeface="Times New Roman" panose="02020603050405020304" pitchFamily="18" charset="0"/>
                          <a:cs typeface="Times New Roman" panose="02020603050405020304" pitchFamily="18" charset="0"/>
                        </a:rPr>
                        <a:t>Complex</a:t>
                      </a:r>
                      <a:r>
                        <a:rPr lang="fr-FR" sz="1600" dirty="0">
                          <a:latin typeface="Times New Roman" panose="02020603050405020304" pitchFamily="18" charset="0"/>
                          <a:cs typeface="Times New Roman" panose="02020603050405020304" pitchFamily="18" charset="0"/>
                        </a:rPr>
                        <a:t> </a:t>
                      </a:r>
                      <a:r>
                        <a:rPr lang="fr-FR" sz="1600" dirty="0" err="1">
                          <a:latin typeface="Times New Roman" panose="02020603050405020304" pitchFamily="18" charset="0"/>
                          <a:cs typeface="Times New Roman" panose="02020603050405020304" pitchFamily="18" charset="0"/>
                        </a:rPr>
                        <a:t>implementation</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39245315"/>
                  </a:ext>
                </a:extLst>
              </a:tr>
              <a:tr h="375894">
                <a:tc>
                  <a:txBody>
                    <a:bodyPr/>
                    <a:lstStyle/>
                    <a:p>
                      <a:r>
                        <a:rPr lang="en-US" sz="1600" dirty="0">
                          <a:latin typeface="Times New Roman" panose="02020603050405020304" pitchFamily="18" charset="0"/>
                          <a:cs typeface="Times New Roman" panose="02020603050405020304" pitchFamily="18" charset="0"/>
                        </a:rPr>
                        <a:t>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Smart Education Networks Integrating Online and Offline Learning</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Chen et al.</a:t>
                      </a:r>
                    </a:p>
                  </a:txBody>
                  <a:tcPr/>
                </a:tc>
                <a:tc>
                  <a:txBody>
                    <a:bodyPr/>
                    <a:lstStyle/>
                    <a:p>
                      <a:r>
                        <a:rPr lang="en-IN" sz="1600" dirty="0">
                          <a:latin typeface="Times New Roman" panose="02020603050405020304" pitchFamily="18" charset="0"/>
                          <a:cs typeface="Times New Roman" panose="02020603050405020304" pitchFamily="18" charset="0"/>
                        </a:rPr>
                        <a:t>Springer SNCS (2024)</a:t>
                      </a:r>
                    </a:p>
                  </a:txBody>
                  <a:tcPr/>
                </a:tc>
                <a:tc>
                  <a:txBody>
                    <a:bodyPr/>
                    <a:lstStyle/>
                    <a:p>
                      <a:r>
                        <a:rPr lang="en-IN" sz="1600" dirty="0">
                          <a:latin typeface="Times New Roman" panose="02020603050405020304" pitchFamily="18" charset="0"/>
                          <a:cs typeface="Times New Roman" panose="02020603050405020304" pitchFamily="18" charset="0"/>
                        </a:rPr>
                        <a:t>Cloud platform + offline synchronization</a:t>
                      </a:r>
                    </a:p>
                  </a:txBody>
                  <a:tcPr/>
                </a:tc>
                <a:tc>
                  <a:txBody>
                    <a:bodyPr/>
                    <a:lstStyle/>
                    <a:p>
                      <a:r>
                        <a:rPr lang="en-US" sz="1600" dirty="0">
                          <a:latin typeface="Times New Roman" panose="02020603050405020304" pitchFamily="18" charset="0"/>
                          <a:cs typeface="Times New Roman" panose="02020603050405020304" pitchFamily="18" charset="0"/>
                        </a:rPr>
                        <a:t>• Continuous learning access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Rural support</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Sync latency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Maintenance overhead</a:t>
                      </a:r>
                    </a:p>
                  </a:txBody>
                  <a:tcPr/>
                </a:tc>
                <a:extLst>
                  <a:ext uri="{0D108BD9-81ED-4DB2-BD59-A6C34878D82A}">
                    <a16:rowId xmlns:a16="http://schemas.microsoft.com/office/drawing/2014/main" val="2464203109"/>
                  </a:ext>
                </a:extLst>
              </a:tr>
            </a:tbl>
          </a:graphicData>
        </a:graphic>
      </p:graphicFrame>
    </p:spTree>
    <p:extLst>
      <p:ext uri="{BB962C8B-B14F-4D97-AF65-F5344CB8AC3E}">
        <p14:creationId xmlns:p14="http://schemas.microsoft.com/office/powerpoint/2010/main" val="4240786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AC6FCF5-E469-4706-AB9E-6BB7DB751ED8}" type="slidenum">
              <a:rPr lang="en-IN" smtClean="0"/>
              <a:t>9</a:t>
            </a:fld>
            <a:endParaRPr lang="en-IN"/>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3071507518"/>
              </p:ext>
            </p:extLst>
          </p:nvPr>
        </p:nvGraphicFramePr>
        <p:xfrm>
          <a:off x="261257" y="227285"/>
          <a:ext cx="11560627" cy="5577840"/>
        </p:xfrm>
        <a:graphic>
          <a:graphicData uri="http://schemas.openxmlformats.org/drawingml/2006/table">
            <a:tbl>
              <a:tblPr firstRow="1" bandRow="1">
                <a:tableStyleId>{5C22544A-7EE6-4342-B048-85BDC9FD1C3A}</a:tableStyleId>
              </a:tblPr>
              <a:tblGrid>
                <a:gridCol w="927619">
                  <a:extLst>
                    <a:ext uri="{9D8B030D-6E8A-4147-A177-3AD203B41FA5}">
                      <a16:colId xmlns:a16="http://schemas.microsoft.com/office/drawing/2014/main" val="3304824532"/>
                    </a:ext>
                  </a:extLst>
                </a:gridCol>
                <a:gridCol w="1813703">
                  <a:extLst>
                    <a:ext uri="{9D8B030D-6E8A-4147-A177-3AD203B41FA5}">
                      <a16:colId xmlns:a16="http://schemas.microsoft.com/office/drawing/2014/main" val="3116736047"/>
                    </a:ext>
                  </a:extLst>
                </a:gridCol>
                <a:gridCol w="1606028">
                  <a:extLst>
                    <a:ext uri="{9D8B030D-6E8A-4147-A177-3AD203B41FA5}">
                      <a16:colId xmlns:a16="http://schemas.microsoft.com/office/drawing/2014/main" val="3654445797"/>
                    </a:ext>
                  </a:extLst>
                </a:gridCol>
                <a:gridCol w="1675252">
                  <a:extLst>
                    <a:ext uri="{9D8B030D-6E8A-4147-A177-3AD203B41FA5}">
                      <a16:colId xmlns:a16="http://schemas.microsoft.com/office/drawing/2014/main" val="1932313983"/>
                    </a:ext>
                  </a:extLst>
                </a:gridCol>
                <a:gridCol w="1827550">
                  <a:extLst>
                    <a:ext uri="{9D8B030D-6E8A-4147-A177-3AD203B41FA5}">
                      <a16:colId xmlns:a16="http://schemas.microsoft.com/office/drawing/2014/main" val="2998694550"/>
                    </a:ext>
                  </a:extLst>
                </a:gridCol>
                <a:gridCol w="1758322">
                  <a:extLst>
                    <a:ext uri="{9D8B030D-6E8A-4147-A177-3AD203B41FA5}">
                      <a16:colId xmlns:a16="http://schemas.microsoft.com/office/drawing/2014/main" val="2778417748"/>
                    </a:ext>
                  </a:extLst>
                </a:gridCol>
                <a:gridCol w="1952153">
                  <a:extLst>
                    <a:ext uri="{9D8B030D-6E8A-4147-A177-3AD203B41FA5}">
                      <a16:colId xmlns:a16="http://schemas.microsoft.com/office/drawing/2014/main" val="1151361970"/>
                    </a:ext>
                  </a:extLst>
                </a:gridCol>
              </a:tblGrid>
              <a:tr h="370840">
                <a:tc>
                  <a:txBody>
                    <a:bodyPr/>
                    <a:lstStyle/>
                    <a:p>
                      <a:r>
                        <a:rPr lang="en-IN" sz="1600" dirty="0" err="1">
                          <a:latin typeface="Times New Roman" panose="02020603050405020304" pitchFamily="18" charset="0"/>
                          <a:cs typeface="Times New Roman" panose="02020603050405020304" pitchFamily="18" charset="0"/>
                        </a:rPr>
                        <a:t>S.No</a:t>
                      </a:r>
                      <a:endParaRPr lang="en-IN" sz="1600" dirty="0">
                        <a:latin typeface="Times New Roman" panose="02020603050405020304" pitchFamily="18" charset="0"/>
                        <a:cs typeface="Times New Roman" panose="02020603050405020304" pitchFamily="18" charset="0"/>
                      </a:endParaRPr>
                    </a:p>
                  </a:txBody>
                  <a:tcPr anchor="ctr"/>
                </a:tc>
                <a:tc>
                  <a:txBody>
                    <a:bodyPr/>
                    <a:lstStyle/>
                    <a:p>
                      <a:r>
                        <a:rPr lang="en-IN" sz="1600" dirty="0">
                          <a:latin typeface="Times New Roman" panose="02020603050405020304" pitchFamily="18" charset="0"/>
                          <a:cs typeface="Times New Roman" panose="02020603050405020304" pitchFamily="18" charset="0"/>
                        </a:rPr>
                        <a:t>TITLE OF THE PAPER</a:t>
                      </a:r>
                    </a:p>
                  </a:txBody>
                  <a:tcPr/>
                </a:tc>
                <a:tc>
                  <a:txBody>
                    <a:bodyPr/>
                    <a:lstStyle/>
                    <a:p>
                      <a:r>
                        <a:rPr lang="en-IN" sz="1600" dirty="0">
                          <a:latin typeface="Times New Roman" panose="02020603050405020304" pitchFamily="18" charset="0"/>
                          <a:cs typeface="Times New Roman" panose="02020603050405020304" pitchFamily="18" charset="0"/>
                        </a:rPr>
                        <a:t>AUTHOR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JOURNAL NAME &amp; YEAR</a:t>
                      </a: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METHOD USED</a:t>
                      </a:r>
                    </a:p>
                  </a:txBody>
                  <a:tcPr/>
                </a:tc>
                <a:tc>
                  <a:txBody>
                    <a:bodyPr/>
                    <a:lstStyle/>
                    <a:p>
                      <a:r>
                        <a:rPr lang="en-IN" sz="1600" dirty="0">
                          <a:latin typeface="Times New Roman" panose="02020603050405020304" pitchFamily="18" charset="0"/>
                          <a:cs typeface="Times New Roman" panose="02020603050405020304" pitchFamily="18" charset="0"/>
                        </a:rPr>
                        <a:t>ADVANTAGES</a:t>
                      </a:r>
                    </a:p>
                  </a:txBody>
                  <a:tcPr/>
                </a:tc>
                <a:tc>
                  <a:txBody>
                    <a:bodyPr/>
                    <a:lstStyle/>
                    <a:p>
                      <a:r>
                        <a:rPr lang="en-IN" sz="1600" dirty="0">
                          <a:latin typeface="Times New Roman" panose="02020603050405020304" pitchFamily="18" charset="0"/>
                          <a:cs typeface="Times New Roman" panose="02020603050405020304" pitchFamily="18" charset="0"/>
                        </a:rPr>
                        <a:t>DISADVANTAGES</a:t>
                      </a:r>
                    </a:p>
                  </a:txBody>
                  <a:tcPr/>
                </a:tc>
                <a:extLst>
                  <a:ext uri="{0D108BD9-81ED-4DB2-BD59-A6C34878D82A}">
                    <a16:rowId xmlns:a16="http://schemas.microsoft.com/office/drawing/2014/main" val="2524206783"/>
                  </a:ext>
                </a:extLst>
              </a:tr>
              <a:tr h="370840">
                <a:tc>
                  <a:txBody>
                    <a:bodyPr/>
                    <a:lstStyle/>
                    <a:p>
                      <a:r>
                        <a:rPr lang="en-US" sz="1600" dirty="0">
                          <a:latin typeface="Times New Roman" panose="02020603050405020304" pitchFamily="18" charset="0"/>
                          <a:cs typeface="Times New Roman" panose="02020603050405020304" pitchFamily="18" charset="0"/>
                        </a:rPr>
                        <a:t>4</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Adaptive Learning Systems for Hybrid Education Using AI</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Smith et al.</a:t>
                      </a:r>
                    </a:p>
                  </a:txBody>
                  <a:tcPr/>
                </a:tc>
                <a:tc>
                  <a:txBody>
                    <a:bodyPr/>
                    <a:lstStyle/>
                    <a:p>
                      <a:r>
                        <a:rPr lang="en-IN" sz="1600" dirty="0">
                          <a:latin typeface="Times New Roman" panose="02020603050405020304" pitchFamily="18" charset="0"/>
                          <a:cs typeface="Times New Roman" panose="02020603050405020304" pitchFamily="18" charset="0"/>
                        </a:rPr>
                        <a:t>IEEE TLT (2025)</a:t>
                      </a:r>
                    </a:p>
                  </a:txBody>
                  <a:tcPr/>
                </a:tc>
                <a:tc>
                  <a:txBody>
                    <a:bodyPr/>
                    <a:lstStyle/>
                    <a:p>
                      <a:r>
                        <a:rPr lang="en-IN" sz="1600" dirty="0">
                          <a:latin typeface="Times New Roman" panose="02020603050405020304" pitchFamily="18" charset="0"/>
                          <a:cs typeface="Times New Roman" panose="02020603050405020304" pitchFamily="18" charset="0"/>
                        </a:rPr>
                        <a:t>ML-based adaptive content delivery</a:t>
                      </a:r>
                    </a:p>
                  </a:txBody>
                  <a:tcPr/>
                </a:tc>
                <a:tc>
                  <a:txBody>
                    <a:bodyPr/>
                    <a:lstStyle/>
                    <a:p>
                      <a:r>
                        <a:rPr lang="en-US" sz="1600" dirty="0">
                          <a:latin typeface="Times New Roman" panose="02020603050405020304" pitchFamily="18" charset="0"/>
                          <a:cs typeface="Times New Roman" panose="02020603050405020304" pitchFamily="18" charset="0"/>
                        </a:rPr>
                        <a:t>• Dynamic learning adjustment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Improved outcomes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 Model bias risk</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Retraining required</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0928553"/>
                  </a:ext>
                </a:extLst>
              </a:tr>
              <a:tr h="370840">
                <a:tc>
                  <a:txBody>
                    <a:bodyPr/>
                    <a:lstStyle/>
                    <a:p>
                      <a:r>
                        <a:rPr lang="en-US" sz="1600" dirty="0">
                          <a:latin typeface="Times New Roman" panose="02020603050405020304" pitchFamily="18" charset="0"/>
                          <a:cs typeface="Times New Roman" panose="02020603050405020304" pitchFamily="18" charset="0"/>
                        </a:rPr>
                        <a:t>5</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Personalized Education Through AI-Enabled Hybrid Platforms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Rahman &amp; Patel</a:t>
                      </a:r>
                    </a:p>
                  </a:txBody>
                  <a:tcPr/>
                </a:tc>
                <a:tc>
                  <a:txBody>
                    <a:bodyPr/>
                    <a:lstStyle/>
                    <a:p>
                      <a:r>
                        <a:rPr lang="en-IN" sz="1600" dirty="0">
                          <a:latin typeface="Times New Roman" panose="02020603050405020304" pitchFamily="18" charset="0"/>
                          <a:cs typeface="Times New Roman" panose="02020603050405020304" pitchFamily="18" charset="0"/>
                        </a:rPr>
                        <a:t>ACM (2025)</a:t>
                      </a:r>
                    </a:p>
                  </a:txBody>
                  <a:tcPr/>
                </a:tc>
                <a:tc>
                  <a:txBody>
                    <a:bodyPr/>
                    <a:lstStyle/>
                    <a:p>
                      <a:r>
                        <a:rPr lang="en-IN" sz="1600" dirty="0">
                          <a:latin typeface="Times New Roman" panose="02020603050405020304" pitchFamily="18" charset="0"/>
                          <a:cs typeface="Times New Roman" panose="02020603050405020304" pitchFamily="18" charset="0"/>
                        </a:rPr>
                        <a:t>Recommendation systems + user </a:t>
                      </a:r>
                      <a:r>
                        <a:rPr lang="en-IN" sz="1600" dirty="0" err="1">
                          <a:latin typeface="Times New Roman" panose="02020603050405020304" pitchFamily="18" charset="0"/>
                          <a:cs typeface="Times New Roman" panose="02020603050405020304" pitchFamily="18" charset="0"/>
                        </a:rPr>
                        <a:t>behavior</a:t>
                      </a:r>
                      <a:r>
                        <a:rPr lang="en-IN" sz="1600" dirty="0">
                          <a:latin typeface="Times New Roman" panose="02020603050405020304" pitchFamily="18" charset="0"/>
                          <a:cs typeface="Times New Roman" panose="02020603050405020304" pitchFamily="18" charset="0"/>
                        </a:rPr>
                        <a:t> analysis</a:t>
                      </a: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Customized materials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Better retention</a:t>
                      </a: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Cold-start problem</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High computation</a:t>
                      </a:r>
                    </a:p>
                  </a:txBody>
                  <a:tcPr/>
                </a:tc>
                <a:extLst>
                  <a:ext uri="{0D108BD9-81ED-4DB2-BD59-A6C34878D82A}">
                    <a16:rowId xmlns:a16="http://schemas.microsoft.com/office/drawing/2014/main" val="3215477994"/>
                  </a:ext>
                </a:extLst>
              </a:tr>
              <a:tr h="370840">
                <a:tc>
                  <a:txBody>
                    <a:bodyPr/>
                    <a:lstStyle/>
                    <a:p>
                      <a:r>
                        <a:rPr lang="en-US" sz="1600" dirty="0">
                          <a:latin typeface="Times New Roman" panose="02020603050405020304" pitchFamily="18" charset="0"/>
                          <a:cs typeface="Times New Roman" panose="02020603050405020304" pitchFamily="18" charset="0"/>
                        </a:rPr>
                        <a:t>6</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Offline-First Digital Learning Systems for Inclusive Education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Lopez et al.</a:t>
                      </a:r>
                    </a:p>
                  </a:txBody>
                  <a:tcPr/>
                </a:tc>
                <a:tc>
                  <a:txBody>
                    <a:bodyPr/>
                    <a:lstStyle/>
                    <a:p>
                      <a:r>
                        <a:rPr lang="en-IN" sz="1600" dirty="0">
                          <a:latin typeface="Times New Roman" panose="02020603050405020304" pitchFamily="18" charset="0"/>
                          <a:cs typeface="Times New Roman" panose="02020603050405020304" pitchFamily="18" charset="0"/>
                        </a:rPr>
                        <a:t>IJET (2024)</a:t>
                      </a:r>
                    </a:p>
                  </a:txBody>
                  <a:tcPr/>
                </a:tc>
                <a:tc>
                  <a:txBody>
                    <a:bodyPr/>
                    <a:lstStyle/>
                    <a:p>
                      <a:r>
                        <a:rPr lang="en-US" sz="1600" dirty="0">
                          <a:latin typeface="Times New Roman" panose="02020603050405020304" pitchFamily="18" charset="0"/>
                          <a:cs typeface="Times New Roman" panose="02020603050405020304" pitchFamily="18" charset="0"/>
                        </a:rPr>
                        <a:t>Offline caching + periodic cloud sync</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Internet-independent learning</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Cost-effective</a:t>
                      </a:r>
                    </a:p>
                  </a:txBody>
                  <a:tcPr/>
                </a:tc>
                <a:tc>
                  <a:txBody>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Limited real-time feedback</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Storage limits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78058269"/>
                  </a:ext>
                </a:extLst>
              </a:tr>
              <a:tr h="370840">
                <a:tc>
                  <a:txBody>
                    <a:bodyPr/>
                    <a:lstStyle/>
                    <a:p>
                      <a:r>
                        <a:rPr lang="en-US" sz="1600" dirty="0">
                          <a:latin typeface="Times New Roman" panose="02020603050405020304" pitchFamily="18" charset="0"/>
                          <a:cs typeface="Times New Roman" panose="02020603050405020304" pitchFamily="18" charset="0"/>
                        </a:rPr>
                        <a:t>7</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AI-Supported Knowledge Exchange Platforms in Education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Zhang et al.</a:t>
                      </a:r>
                    </a:p>
                  </a:txBody>
                  <a:tcPr/>
                </a:tc>
                <a:tc>
                  <a:txBody>
                    <a:bodyPr/>
                    <a:lstStyle/>
                    <a:p>
                      <a:r>
                        <a:rPr lang="en-IN" sz="1600" dirty="0">
                          <a:latin typeface="Times New Roman" panose="02020603050405020304" pitchFamily="18" charset="0"/>
                          <a:cs typeface="Times New Roman" panose="02020603050405020304" pitchFamily="18" charset="0"/>
                        </a:rPr>
                        <a:t>IEEE ICCE (2024)</a:t>
                      </a:r>
                    </a:p>
                  </a:txBody>
                  <a:tcPr/>
                </a:tc>
                <a:tc>
                  <a:txBody>
                    <a:bodyPr/>
                    <a:lstStyle/>
                    <a:p>
                      <a:r>
                        <a:rPr lang="en-IN" sz="1600" dirty="0">
                          <a:latin typeface="Times New Roman" panose="02020603050405020304" pitchFamily="18" charset="0"/>
                          <a:cs typeface="Times New Roman" panose="02020603050405020304" pitchFamily="18" charset="0"/>
                        </a:rPr>
                        <a:t>Knowledge graphs + intelligent retrieval</a:t>
                      </a:r>
                    </a:p>
                  </a:txBody>
                  <a:tcPr/>
                </a:tc>
                <a:tc>
                  <a:txBody>
                    <a:bodyPr/>
                    <a:lstStyle/>
                    <a:p>
                      <a:pPr marL="342900" indent="-342900">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Efficient </a:t>
                      </a:r>
                      <a:r>
                        <a:rPr lang="fr-FR" sz="1600" dirty="0" err="1">
                          <a:latin typeface="Times New Roman" panose="02020603050405020304" pitchFamily="18" charset="0"/>
                          <a:cs typeface="Times New Roman" panose="02020603050405020304" pitchFamily="18" charset="0"/>
                        </a:rPr>
                        <a:t>into</a:t>
                      </a:r>
                      <a:r>
                        <a:rPr lang="fr-FR" sz="1600" dirty="0">
                          <a:latin typeface="Times New Roman" panose="02020603050405020304" pitchFamily="18" charset="0"/>
                          <a:cs typeface="Times New Roman" panose="02020603050405020304" pitchFamily="18" charset="0"/>
                        </a:rPr>
                        <a:t> exchange</a:t>
                      </a:r>
                    </a:p>
                    <a:p>
                      <a:pPr marL="342900" indent="-342900">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Collaboration support</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Complex design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Update challenges</a:t>
                      </a:r>
                    </a:p>
                  </a:txBody>
                  <a:tcPr/>
                </a:tc>
                <a:extLst>
                  <a:ext uri="{0D108BD9-81ED-4DB2-BD59-A6C34878D82A}">
                    <a16:rowId xmlns:a16="http://schemas.microsoft.com/office/drawing/2014/main" val="3145354447"/>
                  </a:ext>
                </a:extLst>
              </a:tr>
            </a:tbl>
          </a:graphicData>
        </a:graphic>
      </p:graphicFrame>
    </p:spTree>
    <p:extLst>
      <p:ext uri="{BB962C8B-B14F-4D97-AF65-F5344CB8AC3E}">
        <p14:creationId xmlns:p14="http://schemas.microsoft.com/office/powerpoint/2010/main" val="326221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4294967295"/>
            <p:extLst>
              <p:ext uri="{D42A27DB-BD31-4B8C-83A1-F6EECF244321}">
                <p14:modId xmlns:p14="http://schemas.microsoft.com/office/powerpoint/2010/main" val="2432725760"/>
              </p:ext>
            </p:extLst>
          </p:nvPr>
        </p:nvGraphicFramePr>
        <p:xfrm>
          <a:off x="431075" y="1089434"/>
          <a:ext cx="11077304" cy="4754880"/>
        </p:xfrm>
        <a:graphic>
          <a:graphicData uri="http://schemas.openxmlformats.org/drawingml/2006/table">
            <a:tbl>
              <a:tblPr firstRow="1" bandRow="1">
                <a:tableStyleId>{5C22544A-7EE6-4342-B048-85BDC9FD1C3A}</a:tableStyleId>
              </a:tblPr>
              <a:tblGrid>
                <a:gridCol w="836023">
                  <a:extLst>
                    <a:ext uri="{9D8B030D-6E8A-4147-A177-3AD203B41FA5}">
                      <a16:colId xmlns:a16="http://schemas.microsoft.com/office/drawing/2014/main" val="3737778297"/>
                    </a:ext>
                  </a:extLst>
                </a:gridCol>
                <a:gridCol w="1685108">
                  <a:extLst>
                    <a:ext uri="{9D8B030D-6E8A-4147-A177-3AD203B41FA5}">
                      <a16:colId xmlns:a16="http://schemas.microsoft.com/office/drawing/2014/main" val="1362109106"/>
                    </a:ext>
                  </a:extLst>
                </a:gridCol>
                <a:gridCol w="1306286">
                  <a:extLst>
                    <a:ext uri="{9D8B030D-6E8A-4147-A177-3AD203B41FA5}">
                      <a16:colId xmlns:a16="http://schemas.microsoft.com/office/drawing/2014/main" val="2458393395"/>
                    </a:ext>
                  </a:extLst>
                </a:gridCol>
                <a:gridCol w="1724297">
                  <a:extLst>
                    <a:ext uri="{9D8B030D-6E8A-4147-A177-3AD203B41FA5}">
                      <a16:colId xmlns:a16="http://schemas.microsoft.com/office/drawing/2014/main" val="1374193294"/>
                    </a:ext>
                  </a:extLst>
                </a:gridCol>
                <a:gridCol w="1789612">
                  <a:extLst>
                    <a:ext uri="{9D8B030D-6E8A-4147-A177-3AD203B41FA5}">
                      <a16:colId xmlns:a16="http://schemas.microsoft.com/office/drawing/2014/main" val="841143910"/>
                    </a:ext>
                  </a:extLst>
                </a:gridCol>
                <a:gridCol w="1711234">
                  <a:extLst>
                    <a:ext uri="{9D8B030D-6E8A-4147-A177-3AD203B41FA5}">
                      <a16:colId xmlns:a16="http://schemas.microsoft.com/office/drawing/2014/main" val="1928565136"/>
                    </a:ext>
                  </a:extLst>
                </a:gridCol>
                <a:gridCol w="2024744">
                  <a:extLst>
                    <a:ext uri="{9D8B030D-6E8A-4147-A177-3AD203B41FA5}">
                      <a16:colId xmlns:a16="http://schemas.microsoft.com/office/drawing/2014/main" val="1901127475"/>
                    </a:ext>
                  </a:extLst>
                </a:gridCol>
              </a:tblGrid>
              <a:tr h="370840">
                <a:tc>
                  <a:txBody>
                    <a:bodyPr/>
                    <a:lstStyle/>
                    <a:p>
                      <a:r>
                        <a:rPr lang="en-IN" sz="1600" dirty="0" err="1">
                          <a:latin typeface="Times New Roman" panose="02020603050405020304" pitchFamily="18" charset="0"/>
                          <a:cs typeface="Times New Roman" panose="02020603050405020304" pitchFamily="18" charset="0"/>
                        </a:rPr>
                        <a:t>S.No</a:t>
                      </a:r>
                      <a:endParaRPr lang="en-IN" sz="1600" dirty="0">
                        <a:latin typeface="Times New Roman" panose="02020603050405020304" pitchFamily="18" charset="0"/>
                        <a:cs typeface="Times New Roman" panose="02020603050405020304" pitchFamily="18" charset="0"/>
                      </a:endParaRPr>
                    </a:p>
                  </a:txBody>
                  <a:tcPr anchor="ctr"/>
                </a:tc>
                <a:tc>
                  <a:txBody>
                    <a:bodyPr/>
                    <a:lstStyle/>
                    <a:p>
                      <a:r>
                        <a:rPr lang="en-IN" sz="1600" dirty="0">
                          <a:latin typeface="Times New Roman" panose="02020603050405020304" pitchFamily="18" charset="0"/>
                          <a:cs typeface="Times New Roman" panose="02020603050405020304" pitchFamily="18" charset="0"/>
                        </a:rPr>
                        <a:t>TITLE OF THE PAPER</a:t>
                      </a:r>
                    </a:p>
                  </a:txBody>
                  <a:tcPr/>
                </a:tc>
                <a:tc>
                  <a:txBody>
                    <a:bodyPr/>
                    <a:lstStyle/>
                    <a:p>
                      <a:r>
                        <a:rPr lang="en-IN" sz="1600" dirty="0">
                          <a:latin typeface="Times New Roman" panose="02020603050405020304" pitchFamily="18" charset="0"/>
                          <a:cs typeface="Times New Roman" panose="02020603050405020304" pitchFamily="18" charset="0"/>
                        </a:rPr>
                        <a:t>AUTHOR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JOURNAL NAME &amp; YEAR</a:t>
                      </a: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METHOD USED</a:t>
                      </a:r>
                    </a:p>
                  </a:txBody>
                  <a:tcPr/>
                </a:tc>
                <a:tc>
                  <a:txBody>
                    <a:bodyPr/>
                    <a:lstStyle/>
                    <a:p>
                      <a:r>
                        <a:rPr lang="en-IN" sz="1600" dirty="0">
                          <a:latin typeface="Times New Roman" panose="02020603050405020304" pitchFamily="18" charset="0"/>
                          <a:cs typeface="Times New Roman" panose="02020603050405020304" pitchFamily="18" charset="0"/>
                        </a:rPr>
                        <a:t>ADVANTAGES</a:t>
                      </a:r>
                    </a:p>
                  </a:txBody>
                  <a:tcPr/>
                </a:tc>
                <a:tc>
                  <a:txBody>
                    <a:bodyPr/>
                    <a:lstStyle/>
                    <a:p>
                      <a:r>
                        <a:rPr lang="en-IN" sz="1600" dirty="0">
                          <a:latin typeface="Times New Roman" panose="02020603050405020304" pitchFamily="18" charset="0"/>
                          <a:cs typeface="Times New Roman" panose="02020603050405020304" pitchFamily="18" charset="0"/>
                        </a:rPr>
                        <a:t>DISADVANTAGES</a:t>
                      </a:r>
                    </a:p>
                  </a:txBody>
                  <a:tcPr/>
                </a:tc>
                <a:extLst>
                  <a:ext uri="{0D108BD9-81ED-4DB2-BD59-A6C34878D82A}">
                    <a16:rowId xmlns:a16="http://schemas.microsoft.com/office/drawing/2014/main" val="2135467962"/>
                  </a:ext>
                </a:extLst>
              </a:tr>
              <a:tr h="370840">
                <a:tc>
                  <a:txBody>
                    <a:bodyPr/>
                    <a:lstStyle/>
                    <a:p>
                      <a:r>
                        <a:rPr lang="en-US" sz="1600" dirty="0">
                          <a:latin typeface="Times New Roman" panose="02020603050405020304" pitchFamily="18" charset="0"/>
                          <a:cs typeface="Times New Roman" panose="02020603050405020304" pitchFamily="18" charset="0"/>
                        </a:rPr>
                        <a:t>8</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Hybrid Learning Management Systems with Personalized Feedback</a:t>
                      </a:r>
                    </a:p>
                  </a:txBody>
                  <a:tcPr anchor="ctr"/>
                </a:tc>
                <a:tc>
                  <a:txBody>
                    <a:bodyPr/>
                    <a:lstStyle/>
                    <a:p>
                      <a:r>
                        <a:rPr lang="en-IN" sz="1600" dirty="0">
                          <a:latin typeface="Times New Roman" panose="02020603050405020304" pitchFamily="18" charset="0"/>
                          <a:cs typeface="Times New Roman" panose="02020603050405020304" pitchFamily="18" charset="0"/>
                        </a:rPr>
                        <a:t>Ahmed et al.</a:t>
                      </a:r>
                    </a:p>
                  </a:txBody>
                  <a:tcPr/>
                </a:tc>
                <a:tc>
                  <a:txBody>
                    <a:bodyPr/>
                    <a:lstStyle/>
                    <a:p>
                      <a:r>
                        <a:rPr lang="en-IN" sz="1600" dirty="0">
                          <a:latin typeface="Times New Roman" panose="02020603050405020304" pitchFamily="18" charset="0"/>
                          <a:cs typeface="Times New Roman" panose="02020603050405020304" pitchFamily="18" charset="0"/>
                        </a:rPr>
                        <a:t>Springer AI &amp; Edu (2025)</a:t>
                      </a:r>
                    </a:p>
                  </a:txBody>
                  <a:tcPr/>
                </a:tc>
                <a:tc>
                  <a:txBody>
                    <a:bodyPr/>
                    <a:lstStyle/>
                    <a:p>
                      <a:r>
                        <a:rPr lang="en-IN" sz="1600" dirty="0">
                          <a:latin typeface="Times New Roman" panose="02020603050405020304" pitchFamily="18" charset="0"/>
                          <a:cs typeface="Times New Roman" panose="02020603050405020304" pitchFamily="18" charset="0"/>
                        </a:rPr>
                        <a:t>NLP-based feedback + sentiment analysis</a:t>
                      </a: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Real-time feedback</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Improved motivation</a:t>
                      </a:r>
                    </a:p>
                  </a:txBody>
                  <a:tcPr/>
                </a:tc>
                <a:tc>
                  <a:txBody>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NLP accuracy issues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Language dependency</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46690007"/>
                  </a:ext>
                </a:extLst>
              </a:tr>
              <a:tr h="370840">
                <a:tc>
                  <a:txBody>
                    <a:bodyPr/>
                    <a:lstStyle/>
                    <a:p>
                      <a:r>
                        <a:rPr lang="en-US" sz="1600" dirty="0">
                          <a:latin typeface="Times New Roman" panose="02020603050405020304" pitchFamily="18" charset="0"/>
                          <a:cs typeface="Times New Roman" panose="02020603050405020304" pitchFamily="18" charset="0"/>
                        </a:rPr>
                        <a:t>9</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Secure Information Exchange in Smart Education Networks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Singh et al.</a:t>
                      </a:r>
                    </a:p>
                  </a:txBody>
                  <a:tcPr/>
                </a:tc>
                <a:tc>
                  <a:txBody>
                    <a:bodyPr/>
                    <a:lstStyle/>
                    <a:p>
                      <a:r>
                        <a:rPr lang="en-IN" sz="1600" dirty="0">
                          <a:latin typeface="Times New Roman" panose="02020603050405020304" pitchFamily="18" charset="0"/>
                          <a:cs typeface="Times New Roman" panose="02020603050405020304" pitchFamily="18" charset="0"/>
                        </a:rPr>
                        <a:t>IEEE </a:t>
                      </a:r>
                      <a:r>
                        <a:rPr lang="en-IN" sz="1600" dirty="0" err="1">
                          <a:latin typeface="Times New Roman" panose="02020603050405020304" pitchFamily="18" charset="0"/>
                          <a:cs typeface="Times New Roman" panose="02020603050405020304" pitchFamily="18" charset="0"/>
                        </a:rPr>
                        <a:t>IoT</a:t>
                      </a:r>
                      <a:r>
                        <a:rPr lang="en-IN" sz="1600" dirty="0">
                          <a:latin typeface="Times New Roman" panose="02020603050405020304" pitchFamily="18" charset="0"/>
                          <a:cs typeface="Times New Roman" panose="02020603050405020304" pitchFamily="18" charset="0"/>
                        </a:rPr>
                        <a:t> Journal (2025)</a:t>
                      </a:r>
                    </a:p>
                  </a:txBody>
                  <a:tcPr/>
                </a:tc>
                <a:tc>
                  <a:txBody>
                    <a:bodyPr/>
                    <a:lstStyle/>
                    <a:p>
                      <a:r>
                        <a:rPr lang="en-IN" sz="1600" dirty="0" err="1">
                          <a:latin typeface="Times New Roman" panose="02020603050405020304" pitchFamily="18" charset="0"/>
                          <a:cs typeface="Times New Roman" panose="02020603050405020304" pitchFamily="18" charset="0"/>
                        </a:rPr>
                        <a:t>Blockchain</a:t>
                      </a:r>
                      <a:r>
                        <a:rPr lang="en-IN" sz="1600" dirty="0">
                          <a:latin typeface="Times New Roman" panose="02020603050405020304" pitchFamily="18" charset="0"/>
                          <a:cs typeface="Times New Roman" panose="02020603050405020304" pitchFamily="18" charset="0"/>
                        </a:rPr>
                        <a:t>-based data sharing</a:t>
                      </a: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High security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Data integrity</a:t>
                      </a: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Scalability issues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Increased latency</a:t>
                      </a:r>
                    </a:p>
                  </a:txBody>
                  <a:tcPr/>
                </a:tc>
                <a:extLst>
                  <a:ext uri="{0D108BD9-81ED-4DB2-BD59-A6C34878D82A}">
                    <a16:rowId xmlns:a16="http://schemas.microsoft.com/office/drawing/2014/main" val="4005383500"/>
                  </a:ext>
                </a:extLst>
              </a:tr>
              <a:tr h="370840">
                <a:tc>
                  <a:txBody>
                    <a:bodyPr/>
                    <a:lstStyle/>
                    <a:p>
                      <a:r>
                        <a:rPr lang="en-US" sz="1600" dirty="0">
                          <a:latin typeface="Times New Roman" panose="02020603050405020304" pitchFamily="18" charset="0"/>
                          <a:cs typeface="Times New Roman" panose="02020603050405020304" pitchFamily="18" charset="0"/>
                        </a:rPr>
                        <a:t>10</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Next-Generation Hybrid Education Platforms Using AI and </a:t>
                      </a:r>
                      <a:r>
                        <a:rPr lang="en-US" sz="1600" dirty="0" err="1">
                          <a:latin typeface="Times New Roman" panose="02020603050405020304" pitchFamily="18" charset="0"/>
                          <a:cs typeface="Times New Roman" panose="02020603050405020304" pitchFamily="18" charset="0"/>
                        </a:rPr>
                        <a:t>IoT</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Park et al.</a:t>
                      </a:r>
                    </a:p>
                  </a:txBody>
                  <a:tcPr/>
                </a:tc>
                <a:tc>
                  <a:txBody>
                    <a:bodyPr/>
                    <a:lstStyle/>
                    <a:p>
                      <a:r>
                        <a:rPr lang="en-IN" sz="1600" dirty="0">
                          <a:latin typeface="Times New Roman" panose="02020603050405020304" pitchFamily="18" charset="0"/>
                          <a:cs typeface="Times New Roman" panose="02020603050405020304" pitchFamily="18" charset="0"/>
                        </a:rPr>
                        <a:t>Elsevier FGCS (2025)</a:t>
                      </a:r>
                    </a:p>
                  </a:txBody>
                  <a:tcPr/>
                </a:tc>
                <a:tc>
                  <a:txBody>
                    <a:bodyPr/>
                    <a:lstStyle/>
                    <a:p>
                      <a:r>
                        <a:rPr lang="en-US" sz="1600" dirty="0">
                          <a:latin typeface="Times New Roman" panose="02020603050405020304" pitchFamily="18" charset="0"/>
                          <a:cs typeface="Times New Roman" panose="02020603050405020304" pitchFamily="18" charset="0"/>
                        </a:rPr>
                        <a:t>AI analytics + </a:t>
                      </a:r>
                      <a:r>
                        <a:rPr lang="en-US" sz="1600" dirty="0" err="1">
                          <a:latin typeface="Times New Roman" panose="02020603050405020304" pitchFamily="18" charset="0"/>
                          <a:cs typeface="Times New Roman" panose="02020603050405020304" pitchFamily="18" charset="0"/>
                        </a:rPr>
                        <a:t>IoT</a:t>
                      </a:r>
                      <a:r>
                        <a:rPr lang="en-US" sz="1600" dirty="0">
                          <a:latin typeface="Times New Roman" panose="02020603050405020304" pitchFamily="18" charset="0"/>
                          <a:cs typeface="Times New Roman" panose="02020603050405020304" pitchFamily="18" charset="0"/>
                        </a:rPr>
                        <a:t> classroom integration</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Smart monitoring</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Enhanced hybrid learning</a:t>
                      </a:r>
                    </a:p>
                  </a:txBody>
                  <a:tcPr/>
                </a:tc>
                <a:tc>
                  <a:txBody>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High deployment cost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Device dependency</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6249102"/>
                  </a:ext>
                </a:extLst>
              </a:tr>
            </a:tbl>
          </a:graphicData>
        </a:graphic>
      </p:graphicFrame>
    </p:spTree>
    <p:extLst>
      <p:ext uri="{BB962C8B-B14F-4D97-AF65-F5344CB8AC3E}">
        <p14:creationId xmlns:p14="http://schemas.microsoft.com/office/powerpoint/2010/main" val="3547672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826" y="139337"/>
            <a:ext cx="8596668" cy="539931"/>
          </a:xfrm>
        </p:spPr>
        <p:txBody>
          <a:bodyPr>
            <a:normAutofit fontScale="90000"/>
          </a:bodyPr>
          <a:lstStyle/>
          <a:p>
            <a:r>
              <a:rPr lang="en-US" dirty="0"/>
              <a:t>PROPOSED SYSTEM</a:t>
            </a:r>
            <a:endParaRPr lang="en-IN" dirty="0"/>
          </a:p>
        </p:txBody>
      </p:sp>
      <p:sp>
        <p:nvSpPr>
          <p:cNvPr id="4" name="Rectangle 1"/>
          <p:cNvSpPr>
            <a:spLocks noGrp="1" noChangeArrowheads="1"/>
          </p:cNvSpPr>
          <p:nvPr>
            <p:ph idx="1"/>
          </p:nvPr>
        </p:nvSpPr>
        <p:spPr bwMode="auto">
          <a:xfrm>
            <a:off x="442201" y="-85796"/>
            <a:ext cx="9720701" cy="5434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lnSpc>
                <a:spcPct val="150000"/>
              </a:lnSpc>
              <a:buNone/>
            </a:pPr>
            <a:endParaRPr lang="en-US" sz="11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6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 dirty="0">
                <a:latin typeface="Times New Roman" panose="02020603050405020304" pitchFamily="18" charset="0"/>
                <a:cs typeface="Times New Roman" panose="02020603050405020304" pitchFamily="18" charset="0"/>
              </a:rPr>
              <a:t>A crowdsourced hybrid online–offline educational recommendation system using Machine Learning techniques (Collaborative Filtering, KNN, and content-based filtering) for course and institution matching, and Deep Learning models (GRU, RNN, and </a:t>
            </a:r>
            <a:r>
              <a:rPr lang="en-US" sz="1600" dirty="0" err="1">
                <a:latin typeface="Times New Roman" panose="02020603050405020304" pitchFamily="18" charset="0"/>
                <a:cs typeface="Times New Roman" panose="02020603050405020304" pitchFamily="18" charset="0"/>
              </a:rPr>
              <a:t>Autoencoders</a:t>
            </a:r>
            <a:r>
              <a:rPr lang="en-US" sz="1600" dirty="0">
                <a:latin typeface="Times New Roman" panose="02020603050405020304" pitchFamily="18" charset="0"/>
                <a:cs typeface="Times New Roman" panose="02020603050405020304" pitchFamily="18" charset="0"/>
              </a:rPr>
              <a:t>) for capturing complex learner patterns and generating real-time recommendations.</a:t>
            </a:r>
          </a:p>
          <a:p>
            <a:pPr algn="just">
              <a:lnSpc>
                <a:spcPct val="150000"/>
              </a:lnSpc>
            </a:pPr>
            <a:r>
              <a:rPr lang="en-US" sz="1600" dirty="0">
                <a:latin typeface="Times New Roman" panose="02020603050405020304" pitchFamily="18" charset="0"/>
                <a:cs typeface="Times New Roman" panose="02020603050405020304" pitchFamily="18" charset="0"/>
              </a:rPr>
              <a:t>Recommends department-based courses and displays relevant job vacancies posted by companies.</a:t>
            </a:r>
          </a:p>
          <a:p>
            <a:pPr algn="just">
              <a:lnSpc>
                <a:spcPct val="150000"/>
              </a:lnSpc>
            </a:pPr>
            <a:r>
              <a:rPr lang="en-US" sz="1600" dirty="0">
                <a:latin typeface="Times New Roman" panose="02020603050405020304" pitchFamily="18" charset="0"/>
                <a:cs typeface="Times New Roman" panose="02020603050405020304" pitchFamily="18" charset="0"/>
              </a:rPr>
              <a:t>Suggests suitable online educational apps and nearby offline institutions based on user preferences.</a:t>
            </a:r>
          </a:p>
          <a:p>
            <a:pPr algn="just">
              <a:lnSpc>
                <a:spcPct val="150000"/>
              </a:lnSpc>
            </a:pPr>
            <a:r>
              <a:rPr lang="en-US" sz="1600" dirty="0">
                <a:latin typeface="Times New Roman" panose="02020603050405020304" pitchFamily="18" charset="0"/>
                <a:cs typeface="Times New Roman" panose="02020603050405020304" pitchFamily="18" charset="0"/>
              </a:rPr>
              <a:t>Utilizes crowdsourced reviews, ratings, and surveys, with fake review detection for reliable recommendations.</a:t>
            </a:r>
          </a:p>
          <a:p>
            <a:pPr algn="just">
              <a:lnSpc>
                <a:spcPct val="150000"/>
              </a:lnSpc>
            </a:pPr>
            <a:r>
              <a:rPr lang="en-US" sz="1600" dirty="0">
                <a:latin typeface="Times New Roman" panose="02020603050405020304" pitchFamily="18" charset="0"/>
                <a:cs typeface="Times New Roman" panose="02020603050405020304" pitchFamily="18" charset="0"/>
              </a:rPr>
              <a:t>Incorporates context-aware analysis considering location, budget, and laboratory facilities.</a:t>
            </a:r>
          </a:p>
          <a:p>
            <a:pPr algn="just">
              <a:lnSpc>
                <a:spcPct val="150000"/>
              </a:lnSpc>
            </a:pPr>
            <a:r>
              <a:rPr lang="en-US" sz="1600" dirty="0">
                <a:latin typeface="Times New Roman" panose="02020603050405020304" pitchFamily="18" charset="0"/>
                <a:cs typeface="Times New Roman" panose="02020603050405020304" pitchFamily="18" charset="0"/>
              </a:rPr>
              <a:t>Uses Explainable AI (XAI) to provide transparent and understandable recommendations.</a:t>
            </a:r>
          </a:p>
          <a:p>
            <a:pPr algn="just">
              <a:lnSpc>
                <a:spcPct val="150000"/>
              </a:lnSpc>
            </a:pPr>
            <a:r>
              <a:rPr lang="en-US" sz="1600" dirty="0">
                <a:latin typeface="Times New Roman" panose="02020603050405020304" pitchFamily="18" charset="0"/>
                <a:cs typeface="Times New Roman" panose="02020603050405020304" pitchFamily="18" charset="0"/>
              </a:rPr>
              <a:t>Generates a personalized learning and career pathway for each student.</a:t>
            </a:r>
          </a:p>
        </p:txBody>
      </p:sp>
      <p:sp>
        <p:nvSpPr>
          <p:cNvPr id="5" name="Slide Number Placeholder 4"/>
          <p:cNvSpPr>
            <a:spLocks noGrp="1"/>
          </p:cNvSpPr>
          <p:nvPr>
            <p:ph type="sldNum" sz="quarter" idx="12"/>
          </p:nvPr>
        </p:nvSpPr>
        <p:spPr/>
        <p:txBody>
          <a:bodyPr/>
          <a:lstStyle/>
          <a:p>
            <a:fld id="{5AC6FCF5-E469-4706-AB9E-6BB7DB751ED8}" type="slidenum">
              <a:rPr lang="en-IN" smtClean="0"/>
              <a:t>11</a:t>
            </a:fld>
            <a:endParaRPr lang="en-IN"/>
          </a:p>
        </p:txBody>
      </p:sp>
    </p:spTree>
    <p:extLst>
      <p:ext uri="{BB962C8B-B14F-4D97-AF65-F5344CB8AC3E}">
        <p14:creationId xmlns:p14="http://schemas.microsoft.com/office/powerpoint/2010/main" val="2473284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ARCHITECTURE</a:t>
            </a:r>
            <a:endParaRPr lang="en-IN" dirty="0"/>
          </a:p>
        </p:txBody>
      </p:sp>
      <p:sp>
        <p:nvSpPr>
          <p:cNvPr id="4" name="Slide Number Placeholder 3"/>
          <p:cNvSpPr>
            <a:spLocks noGrp="1"/>
          </p:cNvSpPr>
          <p:nvPr>
            <p:ph type="sldNum" sz="quarter" idx="12"/>
          </p:nvPr>
        </p:nvSpPr>
        <p:spPr/>
        <p:txBody>
          <a:bodyPr/>
          <a:lstStyle/>
          <a:p>
            <a:fld id="{5AC6FCF5-E469-4706-AB9E-6BB7DB751ED8}" type="slidenum">
              <a:rPr lang="en-IN" smtClean="0"/>
              <a:t>12</a:t>
            </a:fld>
            <a:endParaRPr lang="en-IN"/>
          </a:p>
        </p:txBody>
      </p:sp>
      <p:sp>
        <p:nvSpPr>
          <p:cNvPr id="5" name="Rounded Rectangle 4"/>
          <p:cNvSpPr/>
          <p:nvPr/>
        </p:nvSpPr>
        <p:spPr>
          <a:xfrm>
            <a:off x="313508" y="1711235"/>
            <a:ext cx="1815737"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Users / Stakeholders </a:t>
            </a:r>
          </a:p>
        </p:txBody>
      </p:sp>
      <p:sp>
        <p:nvSpPr>
          <p:cNvPr id="6" name="Rounded Rectangle 5"/>
          <p:cNvSpPr/>
          <p:nvPr/>
        </p:nvSpPr>
        <p:spPr>
          <a:xfrm>
            <a:off x="2677885" y="1658983"/>
            <a:ext cx="1894115"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Crowdsourced Educational Data Collection </a:t>
            </a:r>
          </a:p>
        </p:txBody>
      </p:sp>
      <p:sp>
        <p:nvSpPr>
          <p:cNvPr id="7" name="Rounded Rectangle 6"/>
          <p:cNvSpPr/>
          <p:nvPr/>
        </p:nvSpPr>
        <p:spPr>
          <a:xfrm>
            <a:off x="5029200" y="1645920"/>
            <a:ext cx="2259874"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Hybrid Online–Offline Integration Module </a:t>
            </a:r>
          </a:p>
        </p:txBody>
      </p:sp>
      <p:sp>
        <p:nvSpPr>
          <p:cNvPr id="8" name="Rounded Rectangle 7"/>
          <p:cNvSpPr/>
          <p:nvPr/>
        </p:nvSpPr>
        <p:spPr>
          <a:xfrm>
            <a:off x="7903028" y="1606732"/>
            <a:ext cx="2573383"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Data </a:t>
            </a:r>
            <a:r>
              <a:rPr lang="en-IN" dirty="0" err="1"/>
              <a:t>Preprocessing</a:t>
            </a:r>
            <a:r>
              <a:rPr lang="en-IN" dirty="0"/>
              <a:t> &amp; Feature Engineering </a:t>
            </a:r>
          </a:p>
        </p:txBody>
      </p:sp>
      <p:sp>
        <p:nvSpPr>
          <p:cNvPr id="9" name="Rounded Rectangle 8"/>
          <p:cNvSpPr/>
          <p:nvPr/>
        </p:nvSpPr>
        <p:spPr>
          <a:xfrm>
            <a:off x="6492239" y="3317966"/>
            <a:ext cx="2481944"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ML &amp; Deep Learning Personalization Engine </a:t>
            </a:r>
            <a:endParaRPr lang="en-IN" dirty="0"/>
          </a:p>
        </p:txBody>
      </p:sp>
      <p:sp>
        <p:nvSpPr>
          <p:cNvPr id="10" name="Rounded Rectangle 9"/>
          <p:cNvSpPr/>
          <p:nvPr/>
        </p:nvSpPr>
        <p:spPr>
          <a:xfrm>
            <a:off x="3422469" y="3331028"/>
            <a:ext cx="2481942"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Educational Network &amp; Information Exchange </a:t>
            </a:r>
          </a:p>
        </p:txBody>
      </p:sp>
      <p:sp>
        <p:nvSpPr>
          <p:cNvPr id="11" name="Rounded Rectangle 10"/>
          <p:cNvSpPr/>
          <p:nvPr/>
        </p:nvSpPr>
        <p:spPr>
          <a:xfrm>
            <a:off x="600890" y="3135086"/>
            <a:ext cx="2338253" cy="11495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Explainable AI recommendation module</a:t>
            </a:r>
          </a:p>
        </p:txBody>
      </p:sp>
      <p:cxnSp>
        <p:nvCxnSpPr>
          <p:cNvPr id="16" name="Straight Arrow Connector 15"/>
          <p:cNvCxnSpPr>
            <a:endCxn id="6" idx="1"/>
          </p:cNvCxnSpPr>
          <p:nvPr/>
        </p:nvCxnSpPr>
        <p:spPr>
          <a:xfrm flipV="1">
            <a:off x="2142309" y="2116183"/>
            <a:ext cx="535576" cy="39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7" idx="1"/>
          </p:cNvCxnSpPr>
          <p:nvPr/>
        </p:nvCxnSpPr>
        <p:spPr>
          <a:xfrm flipV="1">
            <a:off x="4572000" y="2103120"/>
            <a:ext cx="457200" cy="13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1"/>
          </p:cNvCxnSpPr>
          <p:nvPr/>
        </p:nvCxnSpPr>
        <p:spPr>
          <a:xfrm flipV="1">
            <a:off x="7289074" y="2063932"/>
            <a:ext cx="613954" cy="39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9" idx="1"/>
            <a:endCxn id="10" idx="3"/>
          </p:cNvCxnSpPr>
          <p:nvPr/>
        </p:nvCxnSpPr>
        <p:spPr>
          <a:xfrm flipH="1">
            <a:off x="5904411" y="3775166"/>
            <a:ext cx="587828" cy="13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8399417" y="2508069"/>
            <a:ext cx="26126" cy="8098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0" idx="1"/>
          </p:cNvCxnSpPr>
          <p:nvPr/>
        </p:nvCxnSpPr>
        <p:spPr>
          <a:xfrm flipH="1">
            <a:off x="2939143" y="3788228"/>
            <a:ext cx="4833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2364377" y="4206240"/>
            <a:ext cx="45720" cy="6139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Rounded Rectangle 45"/>
          <p:cNvSpPr/>
          <p:nvPr/>
        </p:nvSpPr>
        <p:spPr>
          <a:xfrm>
            <a:off x="1515290" y="4820194"/>
            <a:ext cx="1894115"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Feedback to Data Collection</a:t>
            </a:r>
          </a:p>
        </p:txBody>
      </p:sp>
    </p:spTree>
    <p:extLst>
      <p:ext uri="{BB962C8B-B14F-4D97-AF65-F5344CB8AC3E}">
        <p14:creationId xmlns:p14="http://schemas.microsoft.com/office/powerpoint/2010/main" val="631687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a:t>
            </a:r>
            <a:endParaRPr lang="en-IN" dirty="0"/>
          </a:p>
        </p:txBody>
      </p:sp>
      <p:sp>
        <p:nvSpPr>
          <p:cNvPr id="3" name="Content Placeholder 2"/>
          <p:cNvSpPr>
            <a:spLocks noGrp="1"/>
          </p:cNvSpPr>
          <p:nvPr>
            <p:ph idx="1"/>
          </p:nvPr>
        </p:nvSpPr>
        <p:spPr>
          <a:xfrm>
            <a:off x="625083" y="1520509"/>
            <a:ext cx="8596668" cy="3880773"/>
          </a:xfrm>
        </p:spPr>
        <p:txBody>
          <a:bodyPr>
            <a:noAutofit/>
          </a:bodyPr>
          <a:lstStyle/>
          <a:p>
            <a:r>
              <a:rPr lang="en-IN" sz="2400" dirty="0">
                <a:latin typeface="Times New Roman" panose="02020603050405020304" pitchFamily="18" charset="0"/>
                <a:cs typeface="Times New Roman" panose="02020603050405020304" pitchFamily="18" charset="0"/>
              </a:rPr>
              <a:t>Users / Stakeholders </a:t>
            </a:r>
          </a:p>
          <a:p>
            <a:r>
              <a:rPr lang="en-US" sz="2400" dirty="0">
                <a:latin typeface="Times New Roman" panose="02020603050405020304" pitchFamily="18" charset="0"/>
                <a:cs typeface="Times New Roman" panose="02020603050405020304" pitchFamily="18" charset="0"/>
              </a:rPr>
              <a:t>Crowdsourced Educational Data Collection Unit</a:t>
            </a:r>
          </a:p>
          <a:p>
            <a:r>
              <a:rPr lang="en-IN" sz="2400" dirty="0">
                <a:latin typeface="Times New Roman" panose="02020603050405020304" pitchFamily="18" charset="0"/>
                <a:cs typeface="Times New Roman" panose="02020603050405020304" pitchFamily="18" charset="0"/>
              </a:rPr>
              <a:t>Hybrid Online–Offline </a:t>
            </a:r>
            <a:r>
              <a:rPr lang="en-US" sz="2400" dirty="0">
                <a:latin typeface="Times New Roman" panose="02020603050405020304" pitchFamily="18" charset="0"/>
                <a:cs typeface="Times New Roman" panose="02020603050405020304" pitchFamily="18" charset="0"/>
              </a:rPr>
              <a:t>Integration </a:t>
            </a:r>
            <a:r>
              <a:rPr lang="en-IN" sz="2400" dirty="0">
                <a:latin typeface="Times New Roman" panose="02020603050405020304" pitchFamily="18" charset="0"/>
                <a:cs typeface="Times New Roman" panose="02020603050405020304" pitchFamily="18" charset="0"/>
              </a:rPr>
              <a:t> Module</a:t>
            </a:r>
          </a:p>
          <a:p>
            <a:r>
              <a:rPr lang="en-US" sz="2400" dirty="0">
                <a:latin typeface="Times New Roman" panose="02020603050405020304" pitchFamily="18" charset="0"/>
                <a:cs typeface="Times New Roman" panose="02020603050405020304" pitchFamily="18" charset="0"/>
              </a:rPr>
              <a:t>Data Preprocessing &amp; Feature Engineering Techniques</a:t>
            </a:r>
          </a:p>
          <a:p>
            <a:r>
              <a:rPr lang="en-US" sz="2400" dirty="0">
                <a:latin typeface="Times New Roman" panose="02020603050405020304" pitchFamily="18" charset="0"/>
                <a:cs typeface="Times New Roman" panose="02020603050405020304" pitchFamily="18" charset="0"/>
              </a:rPr>
              <a:t>ML &amp; Deep Learning Personalization Engine</a:t>
            </a:r>
          </a:p>
          <a:p>
            <a:r>
              <a:rPr lang="en-US" sz="2400" dirty="0">
                <a:latin typeface="Times New Roman" panose="02020603050405020304" pitchFamily="18" charset="0"/>
                <a:cs typeface="Times New Roman" panose="02020603050405020304" pitchFamily="18" charset="0"/>
              </a:rPr>
              <a:t>Educational Network &amp; Information Exchange System</a:t>
            </a:r>
          </a:p>
          <a:p>
            <a:r>
              <a:rPr lang="en-IN" sz="2400" dirty="0">
                <a:latin typeface="Times New Roman" panose="02020603050405020304" pitchFamily="18" charset="0"/>
                <a:cs typeface="Times New Roman" panose="02020603050405020304" pitchFamily="18" charset="0"/>
              </a:rPr>
              <a:t>Explainable AI recommendation module</a:t>
            </a:r>
          </a:p>
          <a:p>
            <a:r>
              <a:rPr lang="en-US" sz="2400" dirty="0">
                <a:latin typeface="Times New Roman" panose="02020603050405020304" pitchFamily="18" charset="0"/>
                <a:cs typeface="Times New Roman" panose="02020603050405020304" pitchFamily="18" charset="0"/>
              </a:rPr>
              <a:t>Feedback Loop to Data Collection</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 </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13</a:t>
            </a:fld>
            <a:endParaRPr lang="en-IN"/>
          </a:p>
        </p:txBody>
      </p:sp>
    </p:spTree>
    <p:extLst>
      <p:ext uri="{BB962C8B-B14F-4D97-AF65-F5344CB8AC3E}">
        <p14:creationId xmlns:p14="http://schemas.microsoft.com/office/powerpoint/2010/main" val="3780219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Users / Stakeholders</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638145" y="1559697"/>
            <a:ext cx="9472506" cy="3880773"/>
          </a:xfrm>
        </p:spPr>
        <p:txBody>
          <a:bodyPr>
            <a:noAutofit/>
          </a:bodyPr>
          <a:lstStyle/>
          <a:p>
            <a:r>
              <a:rPr lang="en-US" sz="2400" dirty="0">
                <a:latin typeface="Times New Roman" panose="02020603050405020304" pitchFamily="18" charset="0"/>
                <a:cs typeface="Times New Roman" panose="02020603050405020304" pitchFamily="18" charset="0"/>
              </a:rPr>
              <a:t>It represents all entities interacting with the PHOENIX platform, including students, educational institutions, companies, and system administrators.</a:t>
            </a:r>
          </a:p>
          <a:p>
            <a:r>
              <a:rPr lang="en-US" sz="2400" dirty="0">
                <a:latin typeface="Times New Roman" panose="02020603050405020304" pitchFamily="18" charset="0"/>
                <a:cs typeface="Times New Roman" panose="02020603050405020304" pitchFamily="18" charset="0"/>
              </a:rPr>
              <a:t>It supports role-based access control to ensure secure and personalized interactions.</a:t>
            </a:r>
          </a:p>
          <a:p>
            <a:r>
              <a:rPr lang="en-US" sz="2400" dirty="0">
                <a:latin typeface="Times New Roman" panose="02020603050405020304" pitchFamily="18" charset="0"/>
                <a:cs typeface="Times New Roman" panose="02020603050405020304" pitchFamily="18" charset="0"/>
              </a:rPr>
              <a:t>Each user role generates distinct types of educational data, such as course preferences and reviews from students, institutional details from educational organizations, and job vacancy information from companies.</a:t>
            </a:r>
          </a:p>
          <a:p>
            <a:r>
              <a:rPr lang="en-US" sz="2400" dirty="0">
                <a:latin typeface="Times New Roman" panose="02020603050405020304" pitchFamily="18" charset="0"/>
                <a:cs typeface="Times New Roman" panose="02020603050405020304" pitchFamily="18" charset="0"/>
              </a:rPr>
              <a:t>This module acts as the primary interface between users and the system, enabling data collection and personalized recommendation services.</a:t>
            </a:r>
          </a:p>
        </p:txBody>
      </p:sp>
      <p:sp>
        <p:nvSpPr>
          <p:cNvPr id="4" name="Slide Number Placeholder 3"/>
          <p:cNvSpPr>
            <a:spLocks noGrp="1"/>
          </p:cNvSpPr>
          <p:nvPr>
            <p:ph type="sldNum" sz="quarter" idx="12"/>
          </p:nvPr>
        </p:nvSpPr>
        <p:spPr/>
        <p:txBody>
          <a:bodyPr/>
          <a:lstStyle/>
          <a:p>
            <a:fld id="{5AC6FCF5-E469-4706-AB9E-6BB7DB751ED8}" type="slidenum">
              <a:rPr lang="en-IN" smtClean="0"/>
              <a:t>14</a:t>
            </a:fld>
            <a:endParaRPr lang="en-IN"/>
          </a:p>
        </p:txBody>
      </p:sp>
    </p:spTree>
    <p:extLst>
      <p:ext uri="{BB962C8B-B14F-4D97-AF65-F5344CB8AC3E}">
        <p14:creationId xmlns:p14="http://schemas.microsoft.com/office/powerpoint/2010/main" val="3711556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Crowdsourced Educational Data Collection Unit</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sz="half" idx="1"/>
          </p:nvPr>
        </p:nvSpPr>
        <p:spPr>
          <a:xfrm>
            <a:off x="677333" y="1763486"/>
            <a:ext cx="5344643" cy="4277875"/>
          </a:xfrm>
        </p:spPr>
        <p:txBody>
          <a:bodyPr>
            <a:noAutofit/>
          </a:bodyPr>
          <a:lstStyle/>
          <a:p>
            <a:r>
              <a:rPr lang="en-US" sz="2000" dirty="0">
                <a:latin typeface="Times New Roman" panose="02020603050405020304" pitchFamily="18" charset="0"/>
                <a:cs typeface="Times New Roman" panose="02020603050405020304" pitchFamily="18" charset="0"/>
              </a:rPr>
              <a:t>This unit  is responsible for collecting large-scale educational data generated by users during platform interaction. </a:t>
            </a:r>
          </a:p>
          <a:p>
            <a:r>
              <a:rPr lang="en-US" sz="2000" dirty="0">
                <a:latin typeface="Times New Roman" panose="02020603050405020304" pitchFamily="18" charset="0"/>
                <a:cs typeface="Times New Roman" panose="02020603050405020304" pitchFamily="18" charset="0"/>
              </a:rPr>
              <a:t>The data includes learning behavior, content usage patterns, ratings, reviews, and feedback. </a:t>
            </a:r>
          </a:p>
          <a:p>
            <a:r>
              <a:rPr lang="en-US" sz="2000" dirty="0">
                <a:latin typeface="Times New Roman" panose="02020603050405020304" pitchFamily="18" charset="0"/>
                <a:cs typeface="Times New Roman" panose="02020603050405020304" pitchFamily="18" charset="0"/>
              </a:rPr>
              <a:t>Since the data is crowdsourced from diverse users, it reflects real-world learning preferences and engagement levels. </a:t>
            </a:r>
          </a:p>
          <a:p>
            <a:r>
              <a:rPr lang="en-US" sz="2000" dirty="0">
                <a:latin typeface="Times New Roman" panose="02020603050405020304" pitchFamily="18" charset="0"/>
                <a:cs typeface="Times New Roman" panose="02020603050405020304" pitchFamily="18" charset="0"/>
              </a:rPr>
              <a:t>This continuously growing dataset serves as the foundation for personalization and intelligent recommendation within the PHOENIX system.</a:t>
            </a:r>
            <a:endParaRPr lang="en-IN" sz="2000"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sz="half" idx="2"/>
          </p:nvPr>
        </p:nvPicPr>
        <p:blipFill>
          <a:blip r:embed="rId2"/>
          <a:stretch>
            <a:fillRect/>
          </a:stretch>
        </p:blipFill>
        <p:spPr>
          <a:xfrm>
            <a:off x="6139542" y="1645920"/>
            <a:ext cx="4611189" cy="397110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Slide Number Placeholder 3"/>
          <p:cNvSpPr>
            <a:spLocks noGrp="1"/>
          </p:cNvSpPr>
          <p:nvPr>
            <p:ph type="sldNum" sz="quarter" idx="12"/>
          </p:nvPr>
        </p:nvSpPr>
        <p:spPr/>
        <p:txBody>
          <a:bodyPr/>
          <a:lstStyle/>
          <a:p>
            <a:fld id="{5AC6FCF5-E469-4706-AB9E-6BB7DB751ED8}" type="slidenum">
              <a:rPr lang="en-IN" smtClean="0"/>
              <a:t>15</a:t>
            </a:fld>
            <a:endParaRPr lang="en-IN"/>
          </a:p>
        </p:txBody>
      </p:sp>
    </p:spTree>
    <p:extLst>
      <p:ext uri="{BB962C8B-B14F-4D97-AF65-F5344CB8AC3E}">
        <p14:creationId xmlns:p14="http://schemas.microsoft.com/office/powerpoint/2010/main" val="172837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Hybrid Online–Offline Integration Module</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sz="half" idx="1"/>
          </p:nvPr>
        </p:nvSpPr>
        <p:spPr>
          <a:xfrm>
            <a:off x="677334" y="1528354"/>
            <a:ext cx="9035833" cy="4513007"/>
          </a:xfrm>
        </p:spPr>
        <p:txBody>
          <a:bodyPr>
            <a:noAutofit/>
          </a:bodyPr>
          <a:lstStyle/>
          <a:p>
            <a:r>
              <a:rPr lang="en-US" sz="2000" dirty="0">
                <a:latin typeface="Times New Roman" panose="02020603050405020304" pitchFamily="18" charset="0"/>
                <a:cs typeface="Times New Roman" panose="02020603050405020304" pitchFamily="18" charset="0"/>
              </a:rPr>
              <a:t> This module is responsible for establishing structured connections between various educational entities within the system. It links courses with both online learning platforms and offline institutions, creating an integrated educational framework</a:t>
            </a:r>
          </a:p>
          <a:p>
            <a:r>
              <a:rPr lang="en-US" sz="2000" dirty="0">
                <a:latin typeface="Times New Roman" panose="02020603050405020304" pitchFamily="18" charset="0"/>
                <a:cs typeface="Times New Roman" panose="02020603050405020304" pitchFamily="18" charset="0"/>
              </a:rPr>
              <a:t>In addition, the module maps courses to the specific skills they develop and further connects those skills to relevant job roles in the industry. </a:t>
            </a:r>
          </a:p>
          <a:p>
            <a:r>
              <a:rPr lang="en-US" sz="2000" dirty="0">
                <a:latin typeface="Times New Roman" panose="02020603050405020304" pitchFamily="18" charset="0"/>
                <a:cs typeface="Times New Roman" panose="02020603050405020304" pitchFamily="18" charset="0"/>
              </a:rPr>
              <a:t>The module also highlights institutions offering industry-relevant programs and aligns them with current job market requirements collected in the PHOENIX system.</a:t>
            </a:r>
          </a:p>
          <a:p>
            <a:r>
              <a:rPr lang="en-US" sz="2000" dirty="0">
                <a:latin typeface="Times New Roman" panose="02020603050405020304" pitchFamily="18" charset="0"/>
                <a:cs typeface="Times New Roman" panose="02020603050405020304" pitchFamily="18" charset="0"/>
              </a:rPr>
              <a:t>It is important to note that this module does not directly generate recommendations. Instead, it builds and maintains the structured relationships between courses, skills, institutions, and job roles. </a:t>
            </a:r>
          </a:p>
          <a:p>
            <a:r>
              <a:rPr lang="en-US" sz="2000" dirty="0">
                <a:latin typeface="Times New Roman" panose="02020603050405020304" pitchFamily="18" charset="0"/>
                <a:cs typeface="Times New Roman" panose="02020603050405020304" pitchFamily="18" charset="0"/>
              </a:rPr>
              <a:t>These relationships serve as the foundational knowledge base that is later utilized by the personalization engine to generate accurate, context-aware, and career-oriented recommendations.</a:t>
            </a:r>
          </a:p>
        </p:txBody>
      </p:sp>
      <p:sp>
        <p:nvSpPr>
          <p:cNvPr id="4" name="Slide Number Placeholder 3"/>
          <p:cNvSpPr>
            <a:spLocks noGrp="1"/>
          </p:cNvSpPr>
          <p:nvPr>
            <p:ph type="sldNum" sz="quarter" idx="12"/>
          </p:nvPr>
        </p:nvSpPr>
        <p:spPr/>
        <p:txBody>
          <a:bodyPr/>
          <a:lstStyle/>
          <a:p>
            <a:fld id="{5AC6FCF5-E469-4706-AB9E-6BB7DB751ED8}" type="slidenum">
              <a:rPr lang="en-IN" smtClean="0"/>
              <a:t>16</a:t>
            </a:fld>
            <a:endParaRPr lang="en-IN"/>
          </a:p>
        </p:txBody>
      </p:sp>
    </p:spTree>
    <p:extLst>
      <p:ext uri="{BB962C8B-B14F-4D97-AF65-F5344CB8AC3E}">
        <p14:creationId xmlns:p14="http://schemas.microsoft.com/office/powerpoint/2010/main" val="4244049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Data Preprocessing &amp; Feature Engineering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Techniques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Data Preprocessing  prepares raw crowdsourced data for intelligent analysis by performing data cleaning, transformation, and feature extraction. </a:t>
            </a:r>
          </a:p>
          <a:p>
            <a:r>
              <a:rPr lang="en-US" sz="2000" dirty="0">
                <a:latin typeface="Times New Roman" panose="02020603050405020304" pitchFamily="18" charset="0"/>
                <a:cs typeface="Times New Roman" panose="02020603050405020304" pitchFamily="18" charset="0"/>
              </a:rPr>
              <a:t>Noisy, incomplete, and inconsistent data is removed or corrected, while numerical values are normalized and categorical values are encoded. </a:t>
            </a:r>
          </a:p>
          <a:p>
            <a:r>
              <a:rPr lang="en-US" sz="2000" dirty="0">
                <a:latin typeface="Times New Roman" panose="02020603050405020304" pitchFamily="18" charset="0"/>
                <a:cs typeface="Times New Roman" panose="02020603050405020304" pitchFamily="18" charset="0"/>
              </a:rPr>
              <a:t>Feature engineering techniques are applied to extract meaningful attributes such as learning frequency, content preference, and engagement level.</a:t>
            </a:r>
          </a:p>
          <a:p>
            <a:r>
              <a:rPr lang="en-US" sz="2000" dirty="0">
                <a:latin typeface="Times New Roman" panose="02020603050405020304" pitchFamily="18" charset="0"/>
                <a:cs typeface="Times New Roman" panose="02020603050405020304" pitchFamily="18" charset="0"/>
              </a:rPr>
              <a:t> The resulting structured feature set enables accurate and efficient machine learning and deep learning model training.</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17</a:t>
            </a:fld>
            <a:endParaRPr lang="en-IN"/>
          </a:p>
        </p:txBody>
      </p:sp>
    </p:spTree>
    <p:extLst>
      <p:ext uri="{BB962C8B-B14F-4D97-AF65-F5344CB8AC3E}">
        <p14:creationId xmlns:p14="http://schemas.microsoft.com/office/powerpoint/2010/main" val="2306092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ML &amp; Deep Learning Personalization Engine</a:t>
            </a:r>
            <a:endParaRPr lang="en-IN" dirty="0"/>
          </a:p>
        </p:txBody>
      </p:sp>
      <p:sp>
        <p:nvSpPr>
          <p:cNvPr id="3" name="Content Placeholder 2"/>
          <p:cNvSpPr>
            <a:spLocks noGrp="1"/>
          </p:cNvSpPr>
          <p:nvPr>
            <p:ph idx="1"/>
          </p:nvPr>
        </p:nvSpPr>
        <p:spPr>
          <a:xfrm>
            <a:off x="677334" y="2160589"/>
            <a:ext cx="8989180" cy="4214085"/>
          </a:xfrm>
        </p:spPr>
        <p:txBody>
          <a:bodyPr>
            <a:noAutofit/>
          </a:bodyPr>
          <a:lstStyle/>
          <a:p>
            <a:r>
              <a:rPr lang="en-US" sz="2000" dirty="0">
                <a:latin typeface="Times New Roman" panose="02020603050405020304" pitchFamily="18" charset="0"/>
                <a:cs typeface="Times New Roman" panose="02020603050405020304" pitchFamily="18" charset="0"/>
              </a:rPr>
              <a:t>This Engine forms the core intelligence of the PHOENIX system.</a:t>
            </a:r>
          </a:p>
          <a:p>
            <a:r>
              <a:rPr lang="en-US" sz="2000" dirty="0">
                <a:latin typeface="Times New Roman" panose="02020603050405020304" pitchFamily="18" charset="0"/>
                <a:cs typeface="Times New Roman" panose="02020603050405020304" pitchFamily="18" charset="0"/>
              </a:rPr>
              <a:t> It employs machine learning algorithms to identify user similarity and learning patterns, while deep learning models capture complex and non-linear relationships between users and educational content. </a:t>
            </a:r>
          </a:p>
          <a:p>
            <a:r>
              <a:rPr lang="en-US" sz="2000" dirty="0">
                <a:latin typeface="Times New Roman" panose="02020603050405020304" pitchFamily="18" charset="0"/>
                <a:cs typeface="Times New Roman" panose="02020603050405020304" pitchFamily="18" charset="0"/>
              </a:rPr>
              <a:t>The engine builds dynamic user profiles and continuously adapts them based on new interaction data. </a:t>
            </a:r>
          </a:p>
          <a:p>
            <a:r>
              <a:rPr lang="en-US" sz="2000" dirty="0">
                <a:latin typeface="Times New Roman" panose="02020603050405020304" pitchFamily="18" charset="0"/>
                <a:cs typeface="Times New Roman" panose="02020603050405020304" pitchFamily="18" charset="0"/>
              </a:rPr>
              <a:t>By learning from both historical and real-time data, this module enables highly personalized learning experiences and recommendation accuracy.</a:t>
            </a:r>
          </a:p>
          <a:p>
            <a:r>
              <a:rPr lang="en-US" sz="2000" dirty="0">
                <a:latin typeface="Times New Roman" panose="02020603050405020304" pitchFamily="18" charset="0"/>
                <a:cs typeface="Times New Roman" panose="02020603050405020304" pitchFamily="18" charset="0"/>
              </a:rPr>
              <a:t>Graph </a:t>
            </a:r>
            <a:r>
              <a:rPr lang="en-US" sz="2000" dirty="0" err="1">
                <a:latin typeface="Times New Roman" panose="02020603050405020304" pitchFamily="18" charset="0"/>
                <a:cs typeface="Times New Roman" panose="02020603050405020304" pitchFamily="18" charset="0"/>
              </a:rPr>
              <a:t>Autoencoders</a:t>
            </a:r>
            <a:r>
              <a:rPr lang="en-US" sz="2000" dirty="0">
                <a:latin typeface="Times New Roman" panose="02020603050405020304" pitchFamily="18" charset="0"/>
                <a:cs typeface="Times New Roman" panose="02020603050405020304" pitchFamily="18" charset="0"/>
              </a:rPr>
              <a:t> are deep learning models designed to learn low-dimensional representations of graph-structured data. </a:t>
            </a:r>
          </a:p>
          <a:p>
            <a:r>
              <a:rPr lang="en-US" sz="2000" dirty="0">
                <a:latin typeface="Times New Roman" panose="02020603050405020304" pitchFamily="18" charset="0"/>
                <a:cs typeface="Times New Roman" panose="02020603050405020304" pitchFamily="18" charset="0"/>
              </a:rPr>
              <a:t>They encode relationships between nodes (such as users and educational content) into latent </a:t>
            </a:r>
            <a:r>
              <a:rPr lang="en-US" sz="2000" dirty="0" err="1">
                <a:latin typeface="Times New Roman" panose="02020603050405020304" pitchFamily="18" charset="0"/>
                <a:cs typeface="Times New Roman" panose="02020603050405020304" pitchFamily="18" charset="0"/>
              </a:rPr>
              <a:t>embeddings</a:t>
            </a:r>
            <a:r>
              <a:rPr lang="en-US" sz="2000" dirty="0">
                <a:latin typeface="Times New Roman" panose="02020603050405020304" pitchFamily="18" charset="0"/>
                <a:cs typeface="Times New Roman" panose="02020603050405020304" pitchFamily="18" charset="0"/>
              </a:rPr>
              <a:t> while preserving network structure.</a:t>
            </a: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18</a:t>
            </a:fld>
            <a:endParaRPr lang="en-IN"/>
          </a:p>
        </p:txBody>
      </p:sp>
    </p:spTree>
    <p:extLst>
      <p:ext uri="{BB962C8B-B14F-4D97-AF65-F5344CB8AC3E}">
        <p14:creationId xmlns:p14="http://schemas.microsoft.com/office/powerpoint/2010/main" val="813759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endParaRPr lang="en-IN" dirty="0"/>
          </a:p>
        </p:txBody>
      </p:sp>
      <p:sp>
        <p:nvSpPr>
          <p:cNvPr id="3" name="Content Placeholder 2"/>
          <p:cNvSpPr>
            <a:spLocks noGrp="1"/>
          </p:cNvSpPr>
          <p:nvPr>
            <p:ph idx="1"/>
          </p:nvPr>
        </p:nvSpPr>
        <p:spPr>
          <a:xfrm>
            <a:off x="546705" y="1559697"/>
            <a:ext cx="9563945" cy="4240212"/>
          </a:xfrm>
        </p:spPr>
        <p:txBody>
          <a:bodyPr>
            <a:noAutofit/>
          </a:bodyPr>
          <a:lstStyle/>
          <a:p>
            <a:r>
              <a:rPr lang="en-US" sz="2000" dirty="0">
                <a:latin typeface="Times New Roman" panose="02020603050405020304" pitchFamily="18" charset="0"/>
                <a:cs typeface="Times New Roman" panose="02020603050405020304" pitchFamily="18" charset="0"/>
              </a:rPr>
              <a:t>A Stacked </a:t>
            </a:r>
            <a:r>
              <a:rPr lang="en-US" sz="2000" dirty="0" err="1">
                <a:latin typeface="Times New Roman" panose="02020603050405020304" pitchFamily="18" charset="0"/>
                <a:cs typeface="Times New Roman" panose="02020603050405020304" pitchFamily="18" charset="0"/>
              </a:rPr>
              <a:t>Autoencoder</a:t>
            </a:r>
            <a:r>
              <a:rPr lang="en-US" sz="2000" dirty="0">
                <a:latin typeface="Times New Roman" panose="02020603050405020304" pitchFamily="18" charset="0"/>
                <a:cs typeface="Times New Roman" panose="02020603050405020304" pitchFamily="18" charset="0"/>
              </a:rPr>
              <a:t> consists of multiple </a:t>
            </a:r>
            <a:r>
              <a:rPr lang="en-US" sz="2000" dirty="0" err="1">
                <a:latin typeface="Times New Roman" panose="02020603050405020304" pitchFamily="18" charset="0"/>
                <a:cs typeface="Times New Roman" panose="02020603050405020304" pitchFamily="18" charset="0"/>
              </a:rPr>
              <a:t>autoencoder</a:t>
            </a:r>
            <a:r>
              <a:rPr lang="en-US" sz="2000" dirty="0">
                <a:latin typeface="Times New Roman" panose="02020603050405020304" pitchFamily="18" charset="0"/>
                <a:cs typeface="Times New Roman" panose="02020603050405020304" pitchFamily="18" charset="0"/>
              </a:rPr>
              <a:t> layers stacked together to perform hierarchical feature learning and Each layer learns increasingly abstract representations of the input data.</a:t>
            </a:r>
          </a:p>
          <a:p>
            <a:r>
              <a:rPr lang="en-US" sz="2000" dirty="0">
                <a:latin typeface="Times New Roman" panose="02020603050405020304" pitchFamily="18" charset="0"/>
                <a:cs typeface="Times New Roman" panose="02020603050405020304" pitchFamily="18" charset="0"/>
              </a:rPr>
              <a:t>SAE is used to reduce data sparsity and noise in crowdsourced educational data while extracting high-level learning behavior patterns.</a:t>
            </a:r>
          </a:p>
          <a:p>
            <a:r>
              <a:rPr lang="en-IN" sz="2000" dirty="0">
                <a:latin typeface="Times New Roman" panose="02020603050405020304" pitchFamily="18" charset="0"/>
                <a:cs typeface="Times New Roman" panose="02020603050405020304" pitchFamily="18" charset="0"/>
              </a:rPr>
              <a:t>Long Short-Term Memory</a:t>
            </a:r>
            <a:r>
              <a:rPr lang="en-US" sz="2000" dirty="0">
                <a:latin typeface="Times New Roman" panose="02020603050405020304" pitchFamily="18" charset="0"/>
                <a:cs typeface="Times New Roman" panose="02020603050405020304" pitchFamily="18" charset="0"/>
              </a:rPr>
              <a:t>(LSTM) is a specialized recurrent neural network capable of learning long-term dependencies in sequential </a:t>
            </a:r>
            <a:r>
              <a:rPr lang="en-US" sz="2000" dirty="0" err="1">
                <a:latin typeface="Times New Roman" panose="02020603050405020304" pitchFamily="18" charset="0"/>
                <a:cs typeface="Times New Roman" panose="02020603050405020304" pitchFamily="18" charset="0"/>
              </a:rPr>
              <a:t>data,it</a:t>
            </a:r>
            <a:r>
              <a:rPr lang="en-US" sz="2000" dirty="0">
                <a:latin typeface="Times New Roman" panose="02020603050405020304" pitchFamily="18" charset="0"/>
                <a:cs typeface="Times New Roman" panose="02020603050405020304" pitchFamily="18" charset="0"/>
              </a:rPr>
              <a:t> overcomes the vanishing gradient problem present in traditional RNNs.</a:t>
            </a:r>
          </a:p>
          <a:p>
            <a:r>
              <a:rPr lang="en-US" sz="2000" dirty="0">
                <a:latin typeface="Times New Roman" panose="02020603050405020304" pitchFamily="18" charset="0"/>
                <a:cs typeface="Times New Roman" panose="02020603050405020304" pitchFamily="18" charset="0"/>
              </a:rPr>
              <a:t>Deep learning techniques enable intelligent educational recommendation by learning complex, non-linear patterns from large-scale crowdsourced data.</a:t>
            </a:r>
          </a:p>
          <a:p>
            <a:r>
              <a:rPr lang="en-US" sz="2000" dirty="0">
                <a:latin typeface="Times New Roman" panose="02020603050405020304" pitchFamily="18" charset="0"/>
                <a:cs typeface="Times New Roman" panose="02020603050405020304" pitchFamily="18" charset="0"/>
              </a:rPr>
              <a:t> These models automatically extract features, adapt to user behavior, and improve over time through continuous learning.</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19</a:t>
            </a:fld>
            <a:endParaRPr lang="en-IN"/>
          </a:p>
        </p:txBody>
      </p:sp>
    </p:spTree>
    <p:extLst>
      <p:ext uri="{BB962C8B-B14F-4D97-AF65-F5344CB8AC3E}">
        <p14:creationId xmlns:p14="http://schemas.microsoft.com/office/powerpoint/2010/main" val="1188275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Educational Network &amp; Information Exchange System</a:t>
            </a:r>
            <a:br>
              <a:rPr lang="en-US" b="1" dirty="0"/>
            </a:br>
            <a:endParaRPr lang="en-IN" dirty="0"/>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The Educational Network &amp; Information Exchange facilitates structured information exchange among students, teachers, and institutions within the PHOENIX ecosystem.</a:t>
            </a:r>
          </a:p>
          <a:p>
            <a:r>
              <a:rPr lang="en-US" sz="2000" dirty="0">
                <a:latin typeface="Times New Roman" panose="02020603050405020304" pitchFamily="18" charset="0"/>
                <a:cs typeface="Times New Roman" panose="02020603050405020304" pitchFamily="18" charset="0"/>
              </a:rPr>
              <a:t> It supports content sharing, collaborative learning, and communication through a secure network layer. </a:t>
            </a:r>
          </a:p>
          <a:p>
            <a:r>
              <a:rPr lang="en-US" sz="2000" dirty="0">
                <a:latin typeface="Times New Roman" panose="02020603050405020304" pitchFamily="18" charset="0"/>
                <a:cs typeface="Times New Roman" panose="02020603050405020304" pitchFamily="18" charset="0"/>
              </a:rPr>
              <a:t>Educational resources, feedback, and performance insights are exchanged seamlessly, promoting knowledge dissemination and community-based learning. </a:t>
            </a:r>
          </a:p>
          <a:p>
            <a:r>
              <a:rPr lang="en-US" sz="2000" dirty="0">
                <a:latin typeface="Times New Roman" panose="02020603050405020304" pitchFamily="18" charset="0"/>
                <a:cs typeface="Times New Roman" panose="02020603050405020304" pitchFamily="18" charset="0"/>
              </a:rPr>
              <a:t>This system transforms PHOENIX from a standalone recommendation system into a connected educational network.</a:t>
            </a: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20</a:t>
            </a:fld>
            <a:endParaRPr lang="en-IN"/>
          </a:p>
        </p:txBody>
      </p:sp>
    </p:spTree>
    <p:extLst>
      <p:ext uri="{BB962C8B-B14F-4D97-AF65-F5344CB8AC3E}">
        <p14:creationId xmlns:p14="http://schemas.microsoft.com/office/powerpoint/2010/main" val="6534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517" y="661851"/>
            <a:ext cx="8596668" cy="1320800"/>
          </a:xfrm>
        </p:spPr>
        <p:txBody>
          <a:bodyPr>
            <a:normAutofit/>
          </a:bodyPr>
          <a:lstStyle/>
          <a:p>
            <a:pPr algn="ctr"/>
            <a:r>
              <a:rPr lang="en-IN" dirty="0"/>
              <a:t>Explainable AI recommendation module</a:t>
            </a:r>
          </a:p>
        </p:txBody>
      </p:sp>
      <p:sp>
        <p:nvSpPr>
          <p:cNvPr id="3" name="Content Placeholder 2"/>
          <p:cNvSpPr>
            <a:spLocks noGrp="1"/>
          </p:cNvSpPr>
          <p:nvPr>
            <p:ph idx="1"/>
          </p:nvPr>
        </p:nvSpPr>
        <p:spPr>
          <a:xfrm>
            <a:off x="363826" y="1803538"/>
            <a:ext cx="10077751" cy="3880773"/>
          </a:xfrm>
        </p:spPr>
        <p:txBody>
          <a:bodyPr>
            <a:noAutofit/>
          </a:bodyPr>
          <a:lstStyle/>
          <a:p>
            <a:r>
              <a:rPr lang="en-US" sz="2400" dirty="0">
                <a:latin typeface="Times New Roman" panose="02020603050405020304" pitchFamily="18" charset="0"/>
                <a:cs typeface="Times New Roman" panose="02020603050405020304" pitchFamily="18" charset="0"/>
              </a:rPr>
              <a:t>The Explainable AI Recommendation Module provides transparent explanations for the recommendations generated by the ML and Deep Learning personalization engine.</a:t>
            </a:r>
          </a:p>
          <a:p>
            <a:r>
              <a:rPr lang="en-US" sz="2400" dirty="0">
                <a:latin typeface="Times New Roman" panose="02020603050405020304" pitchFamily="18" charset="0"/>
                <a:cs typeface="Times New Roman" panose="02020603050405020304" pitchFamily="18" charset="0"/>
              </a:rPr>
              <a:t>It explains why specific courses, online platforms, and offline institutions are suggested to a student.</a:t>
            </a:r>
          </a:p>
          <a:p>
            <a:r>
              <a:rPr lang="en-US" sz="2400" dirty="0">
                <a:latin typeface="Times New Roman" panose="02020603050405020304" pitchFamily="18" charset="0"/>
                <a:cs typeface="Times New Roman" panose="02020603050405020304" pitchFamily="18" charset="0"/>
              </a:rPr>
              <a:t>The system highlights important factors such as student department, interests, peer reviews, institutional quality, location, and job market demand.</a:t>
            </a:r>
          </a:p>
          <a:p>
            <a:r>
              <a:rPr lang="en-US" sz="2400" dirty="0">
                <a:latin typeface="Times New Roman" panose="02020603050405020304" pitchFamily="18" charset="0"/>
                <a:cs typeface="Times New Roman" panose="02020603050405020304" pitchFamily="18" charset="0"/>
              </a:rPr>
              <a:t>By providing clear reasoning behind recommendations, the module improves user trust, interpretability, and informed decision-making within the PHOENIX framework.</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21</a:t>
            </a:fld>
            <a:endParaRPr lang="en-IN"/>
          </a:p>
        </p:txBody>
      </p:sp>
    </p:spTree>
    <p:extLst>
      <p:ext uri="{BB962C8B-B14F-4D97-AF65-F5344CB8AC3E}">
        <p14:creationId xmlns:p14="http://schemas.microsoft.com/office/powerpoint/2010/main" val="2548218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Feedback Loop to Data Collection</a:t>
            </a:r>
            <a:endParaRPr lang="en-IN" dirty="0"/>
          </a:p>
        </p:txBody>
      </p:sp>
      <p:sp>
        <p:nvSpPr>
          <p:cNvPr id="3" name="Content Placeholder 2"/>
          <p:cNvSpPr>
            <a:spLocks noGrp="1"/>
          </p:cNvSpPr>
          <p:nvPr>
            <p:ph idx="1"/>
          </p:nvPr>
        </p:nvSpPr>
        <p:spPr>
          <a:xfrm>
            <a:off x="520579" y="1520509"/>
            <a:ext cx="8936929" cy="3880773"/>
          </a:xfrm>
        </p:spPr>
        <p:txBody>
          <a:bodyPr>
            <a:normAutofit/>
          </a:bodyPr>
          <a:lstStyle/>
          <a:p>
            <a:r>
              <a:rPr lang="en-US" sz="2400" dirty="0">
                <a:latin typeface="Times New Roman" panose="02020603050405020304" pitchFamily="18" charset="0"/>
                <a:cs typeface="Times New Roman" panose="02020603050405020304" pitchFamily="18" charset="0"/>
              </a:rPr>
              <a:t>This module enables the system to evolve by collecting user feedback, interaction logs, and performance metrics after recommendations are delivered. </a:t>
            </a:r>
          </a:p>
          <a:p>
            <a:r>
              <a:rPr lang="en-US" sz="2400" dirty="0">
                <a:latin typeface="Times New Roman" panose="02020603050405020304" pitchFamily="18" charset="0"/>
                <a:cs typeface="Times New Roman" panose="02020603050405020304" pitchFamily="18" charset="0"/>
              </a:rPr>
              <a:t>The feedback data is reintegrated into the crowdsourced dataset, allowing periodic retraining and optimization of machine learning and deep learning models. </a:t>
            </a:r>
          </a:p>
          <a:p>
            <a:r>
              <a:rPr lang="en-US" sz="2400" dirty="0">
                <a:latin typeface="Times New Roman" panose="02020603050405020304" pitchFamily="18" charset="0"/>
                <a:cs typeface="Times New Roman" panose="02020603050405020304" pitchFamily="18" charset="0"/>
              </a:rPr>
              <a:t>This continuous learning mechanism ensures that PHOENIX remains adaptive to changing user needs and learning trends, maintaining long-term system accuracy and effectiveness.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22</a:t>
            </a:fld>
            <a:endParaRPr lang="en-IN"/>
          </a:p>
        </p:txBody>
      </p:sp>
    </p:spTree>
    <p:extLst>
      <p:ext uri="{BB962C8B-B14F-4D97-AF65-F5344CB8AC3E}">
        <p14:creationId xmlns:p14="http://schemas.microsoft.com/office/powerpoint/2010/main" val="4251421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endParaRPr lang="en-IN" dirty="0"/>
          </a:p>
        </p:txBody>
      </p:sp>
      <p:sp>
        <p:nvSpPr>
          <p:cNvPr id="5" name="Content Placeholder 4"/>
          <p:cNvSpPr>
            <a:spLocks noGrp="1"/>
          </p:cNvSpPr>
          <p:nvPr>
            <p:ph sz="half" idx="1"/>
          </p:nvPr>
        </p:nvSpPr>
        <p:spPr>
          <a:xfrm>
            <a:off x="677333" y="1476103"/>
            <a:ext cx="5527523" cy="4565258"/>
          </a:xfrm>
        </p:spPr>
        <p:txBody>
          <a:bodyPr>
            <a:noAutofit/>
          </a:bodyPr>
          <a:lstStyle/>
          <a:p>
            <a:r>
              <a:rPr lang="en-US" sz="1400" dirty="0">
                <a:latin typeface="Times New Roman" panose="02020603050405020304" pitchFamily="18" charset="0"/>
                <a:cs typeface="Times New Roman" panose="02020603050405020304" pitchFamily="18" charset="0"/>
              </a:rPr>
              <a:t>The Next-Gen PHOENIX framework presents an intelligent and scalable educational platform that integrates crowdsourced educational data with advanced deep learning techniques to deliver personalized learning experiences.</a:t>
            </a:r>
          </a:p>
          <a:p>
            <a:r>
              <a:rPr lang="en-US" sz="1400" dirty="0">
                <a:latin typeface="Times New Roman" panose="02020603050405020304" pitchFamily="18" charset="0"/>
                <a:cs typeface="Times New Roman" panose="02020603050405020304" pitchFamily="18" charset="0"/>
              </a:rPr>
              <a:t> By combining hybrid online–offline learning support with machine and deep learning-driven personalization, the system ensures uninterrupted access to educational resources while adapting to individual learner needs.</a:t>
            </a:r>
          </a:p>
          <a:p>
            <a:r>
              <a:rPr lang="en-US" sz="1400" dirty="0">
                <a:latin typeface="Times New Roman" panose="02020603050405020304" pitchFamily="18" charset="0"/>
                <a:cs typeface="Times New Roman" panose="02020603050405020304" pitchFamily="18" charset="0"/>
              </a:rPr>
              <a:t> The use of deep learning models such as Graph </a:t>
            </a:r>
            <a:r>
              <a:rPr lang="en-US" sz="1400" dirty="0" err="1">
                <a:latin typeface="Times New Roman" panose="02020603050405020304" pitchFamily="18" charset="0"/>
                <a:cs typeface="Times New Roman" panose="02020603050405020304" pitchFamily="18" charset="0"/>
              </a:rPr>
              <a:t>Autoencoders</a:t>
            </a:r>
            <a:r>
              <a:rPr lang="en-US" sz="1400" dirty="0">
                <a:latin typeface="Times New Roman" panose="02020603050405020304" pitchFamily="18" charset="0"/>
                <a:cs typeface="Times New Roman" panose="02020603050405020304" pitchFamily="18" charset="0"/>
              </a:rPr>
              <a:t>, Stacked </a:t>
            </a:r>
            <a:r>
              <a:rPr lang="en-US" sz="1400" dirty="0" err="1">
                <a:latin typeface="Times New Roman" panose="02020603050405020304" pitchFamily="18" charset="0"/>
                <a:cs typeface="Times New Roman" panose="02020603050405020304" pitchFamily="18" charset="0"/>
              </a:rPr>
              <a:t>Autoencoders</a:t>
            </a:r>
            <a:r>
              <a:rPr lang="en-US" sz="1400" dirty="0">
                <a:latin typeface="Times New Roman" panose="02020603050405020304" pitchFamily="18" charset="0"/>
                <a:cs typeface="Times New Roman" panose="02020603050405020304" pitchFamily="18" charset="0"/>
              </a:rPr>
              <a:t>, and Long Short-Term Memory networks enables effective modeling of complex educational relationships, reduction of data sparsity, and analysis of temporal learning behavior. </a:t>
            </a:r>
          </a:p>
          <a:p>
            <a:r>
              <a:rPr lang="en-US" sz="1400" dirty="0">
                <a:latin typeface="Times New Roman" panose="02020603050405020304" pitchFamily="18" charset="0"/>
                <a:cs typeface="Times New Roman" panose="02020603050405020304" pitchFamily="18" charset="0"/>
              </a:rPr>
              <a:t>Furthermore, the inclusion of an educational network and information exchange layer enhances collaboration among students, teachers, and institutions. </a:t>
            </a:r>
          </a:p>
          <a:p>
            <a:r>
              <a:rPr lang="en-US" sz="1400" dirty="0">
                <a:latin typeface="Times New Roman" panose="02020603050405020304" pitchFamily="18" charset="0"/>
                <a:cs typeface="Times New Roman" panose="02020603050405020304" pitchFamily="18" charset="0"/>
              </a:rPr>
              <a:t>Overall, PHOENIX improves recommendation accuracy, learner engagement, and accessibility, making it a robust next-generation educational ecosystem.</a:t>
            </a:r>
            <a:endParaRPr lang="en-IN"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23</a:t>
            </a:fld>
            <a:endParaRPr lang="en-IN"/>
          </a:p>
        </p:txBody>
      </p:sp>
      <p:pic>
        <p:nvPicPr>
          <p:cNvPr id="2050" name="Picture 2" descr="AI-Driven Schools vs. Traditional Private Education: A Comprehensive Guide  for Families | Akis Apostoliadis"/>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309360" y="1528354"/>
            <a:ext cx="5055326" cy="4167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8876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REFERRENCE</a:t>
            </a:r>
            <a:endParaRPr lang="en-IN" dirty="0"/>
          </a:p>
        </p:txBody>
      </p:sp>
      <p:sp>
        <p:nvSpPr>
          <p:cNvPr id="3" name="Content Placeholder 2"/>
          <p:cNvSpPr>
            <a:spLocks noGrp="1"/>
          </p:cNvSpPr>
          <p:nvPr>
            <p:ph idx="1"/>
          </p:nvPr>
        </p:nvSpPr>
        <p:spPr>
          <a:xfrm>
            <a:off x="638146" y="1416007"/>
            <a:ext cx="8596668" cy="3880773"/>
          </a:xfrm>
        </p:spPr>
        <p:txBody>
          <a:bodyPr>
            <a:noAutofit/>
          </a:bodyPr>
          <a:lstStyle/>
          <a:p>
            <a:r>
              <a:rPr lang="en-US" sz="1600" dirty="0">
                <a:latin typeface="Times New Roman" panose="02020603050405020304" pitchFamily="18" charset="0"/>
                <a:cs typeface="Times New Roman" panose="02020603050405020304" pitchFamily="18" charset="0"/>
              </a:rPr>
              <a:t>F. Roy and M. Hasan, ‘‘An item–item collaborative filtering recommender system based on item reviews: An approach with deep learning,’’ </a:t>
            </a:r>
            <a:r>
              <a:rPr lang="en-US" sz="1600" i="1" dirty="0">
                <a:latin typeface="Times New Roman" panose="02020603050405020304" pitchFamily="18" charset="0"/>
                <a:cs typeface="Times New Roman" panose="02020603050405020304" pitchFamily="18" charset="0"/>
              </a:rPr>
              <a:t>Vietnam </a:t>
            </a:r>
            <a:r>
              <a:rPr lang="it-IT" sz="1600" i="1" dirty="0">
                <a:latin typeface="Times New Roman" panose="02020603050405020304" pitchFamily="18" charset="0"/>
                <a:cs typeface="Times New Roman" panose="02020603050405020304" pitchFamily="18" charset="0"/>
              </a:rPr>
              <a:t>J. Comput. Sci.</a:t>
            </a:r>
            <a:r>
              <a:rPr lang="it-IT" sz="1600" dirty="0">
                <a:latin typeface="Times New Roman" panose="02020603050405020304" pitchFamily="18" charset="0"/>
                <a:cs typeface="Times New Roman" panose="02020603050405020304" pitchFamily="18" charset="0"/>
              </a:rPr>
              <a:t>, vol. 10, no. 4, pp. 517–536, Aug. 2023.</a:t>
            </a:r>
          </a:p>
          <a:p>
            <a:r>
              <a:rPr lang="en-US" sz="1600" dirty="0">
                <a:latin typeface="Times New Roman" panose="02020603050405020304" pitchFamily="18" charset="0"/>
                <a:cs typeface="Times New Roman" panose="02020603050405020304" pitchFamily="18" charset="0"/>
              </a:rPr>
              <a:t>A. </a:t>
            </a:r>
            <a:r>
              <a:rPr lang="en-US" sz="1600" dirty="0" err="1">
                <a:latin typeface="Times New Roman" panose="02020603050405020304" pitchFamily="18" charset="0"/>
                <a:cs typeface="Times New Roman" panose="02020603050405020304" pitchFamily="18" charset="0"/>
              </a:rPr>
              <a:t>Abirami</a:t>
            </a:r>
            <a:r>
              <a:rPr lang="en-US" sz="1600" dirty="0">
                <a:latin typeface="Times New Roman" panose="02020603050405020304" pitchFamily="18" charset="0"/>
                <a:cs typeface="Times New Roman" panose="02020603050405020304" pitchFamily="18" charset="0"/>
              </a:rPr>
              <a:t> and S. D. S. </a:t>
            </a:r>
            <a:r>
              <a:rPr lang="en-US" sz="1600" dirty="0" err="1">
                <a:latin typeface="Times New Roman" panose="02020603050405020304" pitchFamily="18" charset="0"/>
                <a:cs typeface="Times New Roman" panose="02020603050405020304" pitchFamily="18" charset="0"/>
              </a:rPr>
              <a:t>Azariya</a:t>
            </a:r>
            <a:r>
              <a:rPr lang="en-US" sz="1600" dirty="0">
                <a:latin typeface="Times New Roman" panose="02020603050405020304" pitchFamily="18" charset="0"/>
                <a:cs typeface="Times New Roman" panose="02020603050405020304" pitchFamily="18" charset="0"/>
              </a:rPr>
              <a:t>, ‘‘Fractional-order backpropagation through time for training recurrent neural networks,’’ </a:t>
            </a:r>
            <a:r>
              <a:rPr lang="en-US" sz="1600" i="1" dirty="0" err="1">
                <a:latin typeface="Times New Roman" panose="02020603050405020304" pitchFamily="18" charset="0"/>
                <a:cs typeface="Times New Roman" panose="02020603050405020304" pitchFamily="18" charset="0"/>
              </a:rPr>
              <a:t>Nanotechnol</a:t>
            </a:r>
            <a:r>
              <a:rPr lang="en-US" sz="1600" i="1" dirty="0">
                <a:latin typeface="Times New Roman" panose="02020603050405020304" pitchFamily="18" charset="0"/>
                <a:cs typeface="Times New Roman" panose="02020603050405020304" pitchFamily="18" charset="0"/>
              </a:rPr>
              <a:t>. Perceptions</a:t>
            </a:r>
            <a:r>
              <a:rPr lang="en-US" sz="1600"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vol. 20, no. S2, pp. 756–767, 2024.</a:t>
            </a:r>
          </a:p>
          <a:p>
            <a:r>
              <a:rPr lang="en-US" sz="1600" dirty="0">
                <a:latin typeface="Times New Roman" panose="02020603050405020304" pitchFamily="18" charset="0"/>
                <a:cs typeface="Times New Roman" panose="02020603050405020304" pitchFamily="18" charset="0"/>
              </a:rPr>
              <a:t>E. </a:t>
            </a:r>
            <a:r>
              <a:rPr lang="en-US" sz="1600" dirty="0" err="1">
                <a:latin typeface="Times New Roman" panose="02020603050405020304" pitchFamily="18" charset="0"/>
                <a:cs typeface="Times New Roman" panose="02020603050405020304" pitchFamily="18" charset="0"/>
              </a:rPr>
              <a:t>Genov</a:t>
            </a:r>
            <a:r>
              <a:rPr lang="en-US" sz="1600" dirty="0">
                <a:latin typeface="Times New Roman" panose="02020603050405020304" pitchFamily="18" charset="0"/>
                <a:cs typeface="Times New Roman" panose="02020603050405020304" pitchFamily="18" charset="0"/>
              </a:rPr>
              <a:t>, C. D. </a:t>
            </a:r>
            <a:r>
              <a:rPr lang="en-US" sz="1600" dirty="0" err="1">
                <a:latin typeface="Times New Roman" panose="02020603050405020304" pitchFamily="18" charset="0"/>
                <a:cs typeface="Times New Roman" panose="02020603050405020304" pitchFamily="18" charset="0"/>
              </a:rPr>
              <a:t>Cauwer</a:t>
            </a:r>
            <a:r>
              <a:rPr lang="en-US" sz="1600" dirty="0">
                <a:latin typeface="Times New Roman" panose="02020603050405020304" pitchFamily="18" charset="0"/>
                <a:cs typeface="Times New Roman" panose="02020603050405020304" pitchFamily="18" charset="0"/>
              </a:rPr>
              <a:t>, G. V. </a:t>
            </a:r>
            <a:r>
              <a:rPr lang="en-US" sz="1600" dirty="0" err="1">
                <a:latin typeface="Times New Roman" panose="02020603050405020304" pitchFamily="18" charset="0"/>
                <a:cs typeface="Times New Roman" panose="02020603050405020304" pitchFamily="18" charset="0"/>
              </a:rPr>
              <a:t>Kriekinge</a:t>
            </a:r>
            <a:r>
              <a:rPr lang="en-US" sz="1600" dirty="0">
                <a:latin typeface="Times New Roman" panose="02020603050405020304" pitchFamily="18" charset="0"/>
                <a:cs typeface="Times New Roman" panose="02020603050405020304" pitchFamily="18" charset="0"/>
              </a:rPr>
              <a:t>, T. </a:t>
            </a:r>
            <a:r>
              <a:rPr lang="en-US" sz="1600" dirty="0" err="1">
                <a:latin typeface="Times New Roman" panose="02020603050405020304" pitchFamily="18" charset="0"/>
                <a:cs typeface="Times New Roman" panose="02020603050405020304" pitchFamily="18" charset="0"/>
              </a:rPr>
              <a:t>Coosemans</a:t>
            </a:r>
            <a:r>
              <a:rPr lang="en-US" sz="1600" dirty="0">
                <a:latin typeface="Times New Roman" panose="02020603050405020304" pitchFamily="18" charset="0"/>
                <a:cs typeface="Times New Roman" panose="02020603050405020304" pitchFamily="18" charset="0"/>
              </a:rPr>
              <a:t>, and M. </a:t>
            </a:r>
            <a:r>
              <a:rPr lang="en-US" sz="1600" dirty="0" err="1">
                <a:latin typeface="Times New Roman" panose="02020603050405020304" pitchFamily="18" charset="0"/>
                <a:cs typeface="Times New Roman" panose="02020603050405020304" pitchFamily="18" charset="0"/>
              </a:rPr>
              <a:t>Messagie</a:t>
            </a:r>
            <a:r>
              <a:rPr lang="en-US" sz="1600" dirty="0">
                <a:latin typeface="Times New Roman" panose="02020603050405020304" pitchFamily="18" charset="0"/>
                <a:cs typeface="Times New Roman" panose="02020603050405020304" pitchFamily="18" charset="0"/>
              </a:rPr>
              <a:t>, ‘‘Forecasting flexibility of charging of electric </a:t>
            </a:r>
            <a:r>
              <a:rPr lang="en-US" sz="1600" dirty="0" err="1">
                <a:latin typeface="Times New Roman" panose="02020603050405020304" pitchFamily="18" charset="0"/>
                <a:cs typeface="Times New Roman" panose="02020603050405020304" pitchFamily="18" charset="0"/>
              </a:rPr>
              <a:t>vehicles:Tree</a:t>
            </a:r>
            <a:r>
              <a:rPr lang="en-US" sz="1600" dirty="0">
                <a:latin typeface="Times New Roman" panose="02020603050405020304" pitchFamily="18" charset="0"/>
                <a:cs typeface="Times New Roman" panose="02020603050405020304" pitchFamily="18" charset="0"/>
              </a:rPr>
              <a:t> and cluster-based methods,’’ </a:t>
            </a:r>
            <a:r>
              <a:rPr lang="en-US" sz="1600" i="1" dirty="0">
                <a:latin typeface="Times New Roman" panose="02020603050405020304" pitchFamily="18" charset="0"/>
                <a:cs typeface="Times New Roman" panose="02020603050405020304" pitchFamily="18" charset="0"/>
              </a:rPr>
              <a:t>Appl. Energy</a:t>
            </a:r>
            <a:r>
              <a:rPr lang="en-US" sz="1600" dirty="0">
                <a:latin typeface="Times New Roman" panose="02020603050405020304" pitchFamily="18" charset="0"/>
                <a:cs typeface="Times New Roman" panose="02020603050405020304" pitchFamily="18" charset="0"/>
              </a:rPr>
              <a:t>, vol. 353, Jan. 2024,</a:t>
            </a:r>
            <a:r>
              <a:rPr lang="en-IN" sz="1600" dirty="0">
                <a:latin typeface="Times New Roman" panose="02020603050405020304" pitchFamily="18" charset="0"/>
                <a:cs typeface="Times New Roman" panose="02020603050405020304" pitchFamily="18" charset="0"/>
              </a:rPr>
              <a:t>Art. no. 121969.</a:t>
            </a:r>
          </a:p>
          <a:p>
            <a:r>
              <a:rPr lang="en-IN" sz="1600" i="1" dirty="0">
                <a:latin typeface="Times New Roman" panose="02020603050405020304" pitchFamily="18" charset="0"/>
                <a:cs typeface="Times New Roman" panose="02020603050405020304" pitchFamily="18" charset="0"/>
              </a:rPr>
              <a:t>Image V. G. </a:t>
            </a:r>
            <a:r>
              <a:rPr lang="en-IN" sz="1600" i="1" dirty="0" err="1">
                <a:latin typeface="Times New Roman" panose="02020603050405020304" pitchFamily="18" charset="0"/>
                <a:cs typeface="Times New Roman" panose="02020603050405020304" pitchFamily="18" charset="0"/>
              </a:rPr>
              <a:t>Aishvarya</a:t>
            </a:r>
            <a:r>
              <a:rPr lang="en-IN" sz="1600" i="1" dirty="0">
                <a:latin typeface="Times New Roman" panose="02020603050405020304" pitchFamily="18" charset="0"/>
                <a:cs typeface="Times New Roman" panose="02020603050405020304" pitchFamily="18" charset="0"/>
              </a:rPr>
              <a:t> Shree &amp; Image M. </a:t>
            </a:r>
            <a:r>
              <a:rPr lang="en-IN" sz="1600" i="1" dirty="0" err="1">
                <a:latin typeface="Times New Roman" panose="02020603050405020304" pitchFamily="18" charset="0"/>
                <a:cs typeface="Times New Roman" panose="02020603050405020304" pitchFamily="18" charset="0"/>
              </a:rPr>
              <a:t>Thangaraj</a:t>
            </a:r>
            <a:r>
              <a:rPr lang="en-IN" sz="1600" dirty="0">
                <a:latin typeface="Times New Roman" panose="02020603050405020304" pitchFamily="18" charset="0"/>
                <a:cs typeface="Times New Roman" panose="02020603050405020304" pitchFamily="18" charset="0"/>
              </a:rPr>
              <a: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Intelligent </a:t>
            </a:r>
            <a:r>
              <a:rPr lang="en-IN" sz="1600" dirty="0" err="1">
                <a:latin typeface="Times New Roman" panose="02020603050405020304" pitchFamily="18" charset="0"/>
                <a:cs typeface="Times New Roman" panose="02020603050405020304" pitchFamily="18" charset="0"/>
              </a:rPr>
              <a:t>Autoencoder</a:t>
            </a:r>
            <a:r>
              <a:rPr lang="en-IN" sz="1600" dirty="0">
                <a:latin typeface="Times New Roman" panose="02020603050405020304" pitchFamily="18" charset="0"/>
                <a:cs typeface="Times New Roman" panose="02020603050405020304" pitchFamily="18" charset="0"/>
              </a:rPr>
              <a:t> with LSTM based Intrusion Detection and Recommender System, </a:t>
            </a:r>
            <a:r>
              <a:rPr lang="en-IN" sz="1600" i="1" dirty="0">
                <a:latin typeface="Times New Roman" panose="02020603050405020304" pitchFamily="18" charset="0"/>
                <a:cs typeface="Times New Roman" panose="02020603050405020304" pitchFamily="18" charset="0"/>
              </a:rPr>
              <a:t>International Journal of Computer Network and Information Security (IJCNIS)</a:t>
            </a:r>
            <a:r>
              <a:rPr lang="en-IN" sz="1600" dirty="0">
                <a:latin typeface="Times New Roman" panose="02020603050405020304" pitchFamily="18" charset="0"/>
                <a:cs typeface="Times New Roman" panose="02020603050405020304" pitchFamily="18" charset="0"/>
              </a:rPr>
              <a:t>, Oct. 2025.</a:t>
            </a:r>
          </a:p>
          <a:p>
            <a:r>
              <a:rPr lang="en-US" sz="1600" i="1" dirty="0">
                <a:latin typeface="Times New Roman" panose="02020603050405020304" pitchFamily="18" charset="0"/>
                <a:cs typeface="Times New Roman" panose="02020603050405020304" pitchFamily="18" charset="0"/>
              </a:rPr>
              <a:t>Vinod B. </a:t>
            </a:r>
            <a:r>
              <a:rPr lang="en-US" sz="1600" i="1" dirty="0" err="1">
                <a:latin typeface="Times New Roman" panose="02020603050405020304" pitchFamily="18" charset="0"/>
                <a:cs typeface="Times New Roman" panose="02020603050405020304" pitchFamily="18" charset="0"/>
              </a:rPr>
              <a:t>Ingale</a:t>
            </a:r>
            <a:r>
              <a:rPr lang="en-US" sz="1600" i="1" dirty="0">
                <a:latin typeface="Times New Roman" panose="02020603050405020304" pitchFamily="18" charset="0"/>
                <a:cs typeface="Times New Roman" panose="02020603050405020304" pitchFamily="18" charset="0"/>
              </a:rPr>
              <a:t> et al.</a:t>
            </a:r>
            <a:r>
              <a:rPr lang="en-US" sz="1600" dirty="0">
                <a:latin typeface="Times New Roman" panose="02020603050405020304" pitchFamily="18" charset="0"/>
                <a:cs typeface="Times New Roman" panose="02020603050405020304" pitchFamily="18" charset="0"/>
              </a:rPr>
              <a:t>, A Hybrid Neural Architecture For Next-Item Recommendation Using Temporal Point Processes And Self-Attention On Event-Based </a:t>
            </a:r>
            <a:r>
              <a:rPr lang="en-US" sz="1600" dirty="0" err="1">
                <a:latin typeface="Times New Roman" panose="02020603050405020304" pitchFamily="18" charset="0"/>
                <a:cs typeface="Times New Roman" panose="02020603050405020304" pitchFamily="18" charset="0"/>
              </a:rPr>
              <a:t>Data,</a:t>
            </a:r>
            <a:r>
              <a:rPr lang="en-US" sz="1600" i="1" dirty="0" err="1">
                <a:latin typeface="Times New Roman" panose="02020603050405020304" pitchFamily="18" charset="0"/>
                <a:cs typeface="Times New Roman" panose="02020603050405020304" pitchFamily="18" charset="0"/>
              </a:rPr>
              <a:t>JSRET</a:t>
            </a:r>
            <a:r>
              <a:rPr lang="en-US" sz="1600" dirty="0">
                <a:latin typeface="Times New Roman" panose="02020603050405020304" pitchFamily="18" charset="0"/>
                <a:cs typeface="Times New Roman" panose="02020603050405020304" pitchFamily="18" charset="0"/>
              </a:rPr>
              <a:t>, Sep-Oct 2025.</a:t>
            </a:r>
          </a:p>
          <a:p>
            <a:r>
              <a:rPr lang="en-IN" sz="1600" i="1" dirty="0" err="1">
                <a:latin typeface="Times New Roman" panose="02020603050405020304" pitchFamily="18" charset="0"/>
                <a:cs typeface="Times New Roman" panose="02020603050405020304" pitchFamily="18" charset="0"/>
              </a:rPr>
              <a:t>Rui</a:t>
            </a:r>
            <a:r>
              <a:rPr lang="en-IN" sz="1600" i="1" dirty="0">
                <a:latin typeface="Times New Roman" panose="02020603050405020304" pitchFamily="18" charset="0"/>
                <a:cs typeface="Times New Roman" panose="02020603050405020304" pitchFamily="18" charset="0"/>
              </a:rPr>
              <a:t> </a:t>
            </a:r>
            <a:r>
              <a:rPr lang="en-IN" sz="1600" i="1" dirty="0" err="1">
                <a:latin typeface="Times New Roman" panose="02020603050405020304" pitchFamily="18" charset="0"/>
                <a:cs typeface="Times New Roman" panose="02020603050405020304" pitchFamily="18" charset="0"/>
              </a:rPr>
              <a:t>Xue</a:t>
            </a:r>
            <a:r>
              <a:rPr lang="en-IN" sz="1600" i="1" dirty="0">
                <a:latin typeface="Times New Roman" panose="02020603050405020304" pitchFamily="18" charset="0"/>
                <a:cs typeface="Times New Roman" panose="02020603050405020304" pitchFamily="18" charset="0"/>
              </a:rPr>
              <a:t>, </a:t>
            </a:r>
            <a:r>
              <a:rPr lang="en-IN" sz="1600" i="1" dirty="0" err="1">
                <a:latin typeface="Times New Roman" panose="02020603050405020304" pitchFamily="18" charset="0"/>
                <a:cs typeface="Times New Roman" panose="02020603050405020304" pitchFamily="18" charset="0"/>
              </a:rPr>
              <a:t>Shichao</a:t>
            </a:r>
            <a:r>
              <a:rPr lang="en-IN" sz="1600" i="1" dirty="0">
                <a:latin typeface="Times New Roman" panose="02020603050405020304" pitchFamily="18" charset="0"/>
                <a:cs typeface="Times New Roman" panose="02020603050405020304" pitchFamily="18" charset="0"/>
              </a:rPr>
              <a:t> Zhu et al.</a:t>
            </a:r>
            <a:r>
              <a:rPr lang="en-IN" sz="1600" dirty="0">
                <a:latin typeface="Times New Roman" panose="02020603050405020304" pitchFamily="18" charset="0"/>
                <a:cs typeface="Times New Roman" panose="02020603050405020304" pitchFamily="18" charset="0"/>
              </a:rPr>
              <a:t>, E2E-GRec: An End-to-End Joint Training Framework for Graph Neural Networks and Recommender </a:t>
            </a:r>
            <a:r>
              <a:rPr lang="en-IN" sz="1600" dirty="0" err="1">
                <a:latin typeface="Times New Roman" panose="02020603050405020304" pitchFamily="18" charset="0"/>
                <a:cs typeface="Times New Roman" panose="02020603050405020304" pitchFamily="18" charset="0"/>
              </a:rPr>
              <a:t>Systems,</a:t>
            </a:r>
            <a:r>
              <a:rPr lang="en-IN" sz="1600" i="1" dirty="0" err="1">
                <a:latin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cs typeface="Times New Roman" panose="02020603050405020304" pitchFamily="18" charset="0"/>
              </a:rPr>
              <a:t>, Nov. 2025.</a:t>
            </a:r>
          </a:p>
          <a:p>
            <a:pPr marL="0" indent="0">
              <a:buNone/>
            </a:pPr>
            <a:endParaRPr lang="en-IN"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24</a:t>
            </a:fld>
            <a:endParaRPr lang="en-IN"/>
          </a:p>
        </p:txBody>
      </p:sp>
    </p:spTree>
    <p:extLst>
      <p:ext uri="{BB962C8B-B14F-4D97-AF65-F5344CB8AC3E}">
        <p14:creationId xmlns:p14="http://schemas.microsoft.com/office/powerpoint/2010/main" val="3027730896"/>
      </p:ext>
    </p:extLst>
  </p:cSld>
  <p:clrMapOvr>
    <a:masterClrMapping/>
  </p:clrMapOvr>
</p:sld>
</file>

<file path=ppt/theme/theme1.xml><?xml version="1.0" encoding="utf-8"?>
<a:theme xmlns:a="http://schemas.openxmlformats.org/drawingml/2006/main" name="Facet">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692</TotalTime>
  <Words>2479</Words>
  <Application>Microsoft Office PowerPoint</Application>
  <PresentationFormat>Widescreen</PresentationFormat>
  <Paragraphs>257</Paragraphs>
  <Slides>24</Slides>
  <Notes>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Facet</vt:lpstr>
      <vt:lpstr>Next-Gen PHOENIX ​Personalized Hybrid Online-Offline Educational Network &amp; Information eXchange</vt:lpstr>
      <vt:lpstr>ABSTRACT</vt:lpstr>
      <vt:lpstr>OBJECTIVE</vt:lpstr>
      <vt:lpstr>INTRODUCTION</vt:lpstr>
      <vt:lpstr>EXISTING SYSTEM </vt:lpstr>
      <vt:lpstr>DRAWBACKS OF EXISTING SYSTEM</vt:lpstr>
      <vt:lpstr>     LITERATURE SURVEY</vt:lpstr>
      <vt:lpstr>PowerPoint Presentation</vt:lpstr>
      <vt:lpstr>PowerPoint Presentation</vt:lpstr>
      <vt:lpstr>PowerPoint Presentation</vt:lpstr>
      <vt:lpstr>PROPOSED SYSTEM</vt:lpstr>
      <vt:lpstr>SYSTEM ARCHITECTURE</vt:lpstr>
      <vt:lpstr>MODULES</vt:lpstr>
      <vt:lpstr>Users / Stakeholders </vt:lpstr>
      <vt:lpstr>Crowdsourced Educational Data Collection Unit </vt:lpstr>
      <vt:lpstr>Hybrid Online–Offline Integration Module </vt:lpstr>
      <vt:lpstr>Data Preprocessing &amp; Feature Engineering  Techniques</vt:lpstr>
      <vt:lpstr>ML &amp; Deep Learning Personalization Engine</vt:lpstr>
      <vt:lpstr>CONT..</vt:lpstr>
      <vt:lpstr>Educational Network &amp; Information Exchange System </vt:lpstr>
      <vt:lpstr>Explainable AI recommendation module</vt:lpstr>
      <vt:lpstr>Feedback Loop to Data Collection</vt:lpstr>
      <vt:lpstr>CONCLUSION</vt:lpstr>
      <vt:lpstr>REFERRENCE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Breast Cancer Detection Using Mammography: Image Processing to Deep Learning</dc:title>
  <dc:creator>Microsoft account</dc:creator>
  <cp:lastModifiedBy>Fathima Ashfa</cp:lastModifiedBy>
  <cp:revision>310</cp:revision>
  <dcterms:created xsi:type="dcterms:W3CDTF">2025-08-27T13:05:59Z</dcterms:created>
  <dcterms:modified xsi:type="dcterms:W3CDTF">2026-04-13T11:03:42Z</dcterms:modified>
</cp:coreProperties>
</file>